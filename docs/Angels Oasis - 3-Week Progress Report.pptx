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1E8FE43-68CC-B372-A69A-06B8B58C611C}">
          <p14:sldIdLst>
            <p14:sldId id="256"/>
            <p14:sldId id="257"/>
          </p14:sldIdLst>
        </p14:section>
        <p14:section name="Week 1: Lead Map" id="{6050238D-087B-E106-D8B2-F1B62F3BF2EB}">
          <p14:sldIdLst>
            <p14:sldId id="258"/>
            <p14:sldId id="259"/>
          </p14:sldIdLst>
        </p14:section>
        <p14:section name="Week 2: Email Connection" id="{139802CB-4C38-084E-A1B0-80D7BE11009E}">
          <p14:sldIdLst>
            <p14:sldId id="260"/>
          </p14:sldIdLst>
        </p14:section>
        <p14:section name="Week 3: GHL + Automation" id="{DC0905A6-D8A6-3A62-72B2-63CBFBE4A648}">
          <p14:sldIdLst>
            <p14:sldId id="261"/>
            <p14:sldId id="262"/>
            <p14:sldId id="265"/>
            <p14:sldId id="263"/>
          </p14:sldIdLst>
        </p14:section>
        <p14:section name="Next Steps" id="{6168DDD3-361E-C3C5-9CFA-A91536F673D5}">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800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This is a summary of what I built over the last three weeks for the Angels Oasis referral outreach system: week one the lead map, week two the email connection, and week three GoHighLevel. I'll also be clear about the one part that is still in research: sending the emails automatically from our CRM through GHL.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week built on the one before. First I needed to know who to contact, then I needed to connect the CRM to GHL, and then I built the emails in GHL. The final step, automated sending, is still being researched.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one was about answering one question: who should we be talking to? The map now combines three public sources and found over 5,500 facilities within 25 miles. Of those, 540 are hospitals, nursing facilities, LTACs and rehab centers, and they can all be added as leads in one click.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Leads don't just sit in a list. Each one has a stage, a source, and as many contacts as we can find at that facility. The Save to GHL button is the start of the connection to GoHighLevel.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two put the CRM online on Vercel with a Supabase database, and started the link to GoHighLevel: a webhook that creates the contact in GHL and tags it. The analytics screen is ready, but it will only show real numbers once sending is connected.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emails, all branded with the Angels Oasis logo and footer, and all eight are now built in GHL as drafts. The order is deliberate: we help first, then introduce the home, then ask for a tour, and we close politely if they don't respond.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status. The CRM, the database and the webhook into GHL work, and all eight emails are built in GHL. What I'm still researching is the email connection from Vercel through Supabase into GHL, so the emails send automatically. I can't confirm anything there yet. To test it end to end I need two things: a GHL Private Integration token and Location ID, and the Supabase service-role key.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Along the way I also added several features that make each lead easier to work. The biggest one: when you click a hospital or SNF on the map, the CRM now finds its key staff, such as case managers, discharge planners, directors of nursing and administrators, and links to their LinkedIn profiles. It also looks up each facility's website, phone and email, skips directory sites so we only keep the facility's own contacts, and shows bed availability and the outreach history for each lead.</a:t>
            </a:r>
          </a:p>
        </p:txBody>
      </p:sp>
    </p:spTree>
    <p:extLst>
      <p:ext uri="{BB962C8B-B14F-4D97-AF65-F5344CB8AC3E}">
        <p14:creationId xmlns:p14="http://schemas.microsoft.com/office/powerpoint/2010/main" val="1179591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the left is the GHL workflow. It receives a webhook, creates the contact and tags it, and it received its test request on October 9. On the right are the eight emails, built in GHL as drafts. What is not proven yet is the automated sending, which is the research item from the How It Connects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getting the credentials so I can finish and test the email connection. Once a test email goes through, we publish the emails, launch with our best leads, and I'll report the numbers weekly. To do that, I need the extra credentials for info@angelsoasisclhf.com. Thank you,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011680"/>
            <a:ext cx="8229600" cy="365760"/>
          </a:xfrm>
          <a:prstGeom prst="rect">
            <a:avLst/>
          </a:prstGeom>
          <a:noFill/>
          <a:ln/>
        </p:spPr>
        <p:txBody>
          <a:bodyPr wrap="square" rtlCol="0"/>
          <a:lstStyle>
            <a:lvl1pPr marL="0" indent="0">
              <a:buNone/>
              <a:defRPr lang="en-US" sz="1400" b="1" kern="0" spc="200" dirty="0">
                <a:solidFill>
                  <a:schemeClr val="accent3"/>
                </a:solidFill>
              </a:defRPr>
            </a:lvl1pPr>
          </a:lstStyle>
          <a:p>
            <a:pPr marL="0" indent="0">
              <a:buNone/>
            </a:pPr>
            <a:endParaRPr lang="en-US" sz="1400" dirty="0"/>
          </a:p>
        </p:txBody>
      </p:sp>
      <p:sp>
        <p:nvSpPr>
          <p:cNvPr id="3" name="Text 0"/>
          <p:cNvSpPr>
            <a:spLocks noGrp="1"/>
          </p:cNvSpPr>
          <p:nvPr>
            <p:ph type="title" idx="101" hasCustomPrompt="1"/>
          </p:nvPr>
        </p:nvSpPr>
        <p:spPr>
          <a:xfrm>
            <a:off x="731520" y="2468880"/>
            <a:ext cx="868680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4023360"/>
            <a:ext cx="7772400" cy="91440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rtlCol="0"/>
          <a:lstStyle>
            <a:lvl1pPr marL="0" indent="0">
              <a:buNone/>
              <a:defRPr lang="en-US" sz="1200" b="1" kern="0" spc="200" dirty="0">
                <a:solidFill>
                  <a:schemeClr val="accent2"/>
                </a:solidFill>
              </a:defRPr>
            </a:lvl1pPr>
          </a:lstStyle>
          <a:p>
            <a:pPr marL="0" indent="0">
              <a:buNone/>
            </a:pP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rtlCol="0"/>
          <a:lstStyle>
            <a:lvl1pPr marL="0" indent="0" algn="l">
              <a:buNone/>
              <a:defRPr lang="en-US" sz="3400" b="1" dirty="0">
                <a:solidFill>
                  <a:schemeClr val="accent1"/>
                </a:solidFill>
              </a:defRPr>
            </a:lvl1pPr>
          </a:lstStyle>
          <a:p>
            <a:pPr marL="0" indent="0" algn="l">
              <a:buNone/>
            </a:pPr>
            <a:endParaRPr lang="en-US" sz="34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Angels Oasis CLHF  ·  Referral Outreach System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0.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ngels Oasis logo" descr="Angels Oasis logo"/>
          <p:cNvPicPr>
            <a:picLocks noChangeAspect="1"/>
          </p:cNvPicPr>
          <p:nvPr/>
        </p:nvPicPr>
        <p:blipFill>
          <a:blip r:embed="rId3"/>
          <a:stretch>
            <a:fillRect/>
          </a:stretch>
        </p:blipFill>
        <p:spPr>
          <a:xfrm>
            <a:off x="731520" y="640080"/>
            <a:ext cx="3685032" cy="914400"/>
          </a:xfrm>
          <a:prstGeom prst="rect">
            <a:avLst/>
          </a:prstGeom>
        </p:spPr>
      </p:pic>
      <p:sp>
        <p:nvSpPr>
          <p:cNvPr id="3" name="Text 0"/>
          <p:cNvSpPr>
            <a:spLocks noGrp="1"/>
          </p:cNvSpPr>
          <p:nvPr>
            <p:ph type="body" idx="100" hasCustomPrompt="1"/>
          </p:nvPr>
        </p:nvSpPr>
        <p:spPr>
          <a:xfrm>
            <a:off x="731520" y="2011680"/>
            <a:ext cx="8229600" cy="365760"/>
          </a:xfrm>
          <a:prstGeom prst="rect">
            <a:avLst/>
          </a:prstGeom>
          <a:noFill/>
          <a:ln/>
        </p:spPr>
        <p:txBody>
          <a:bodyPr wrap="square" lIns="0" tIns="0" rIns="0" bIns="0" rtlCol="0"/>
          <a:lstStyle/>
          <a:p>
            <a:pPr marL="0" indent="0">
              <a:buNone/>
            </a:pPr>
            <a:r>
              <a:rPr lang="en-US" sz="1400" b="1" kern="0" spc="200" dirty="0">
                <a:solidFill>
                  <a:schemeClr val="accent3"/>
                </a:solidFill>
              </a:rPr>
              <a:t>PROGRESS REPORT  ·  SEP 24 – OCT 16, 2026</a:t>
            </a:r>
            <a:endParaRPr lang="en-US" sz="1400" dirty="0"/>
          </a:p>
        </p:txBody>
      </p:sp>
      <p:sp>
        <p:nvSpPr>
          <p:cNvPr id="4" name="Text 0"/>
          <p:cNvSpPr>
            <a:spLocks noGrp="1"/>
          </p:cNvSpPr>
          <p:nvPr>
            <p:ph type="title" idx="101" hasCustomPrompt="1"/>
          </p:nvPr>
        </p:nvSpPr>
        <p:spPr>
          <a:xfrm>
            <a:off x="731520" y="2468880"/>
            <a:ext cx="8686800" cy="1463040"/>
          </a:xfrm>
          <a:prstGeom prst="rect">
            <a:avLst/>
          </a:prstGeom>
          <a:noFill/>
          <a:ln/>
        </p:spPr>
        <p:txBody>
          <a:bodyPr wrap="square" lIns="0" tIns="0" rIns="0" bIns="0" rtlCol="0" anchor="t"/>
          <a:lstStyle/>
          <a:p>
            <a:pPr marL="0" indent="0" algn="l">
              <a:buNone/>
            </a:pPr>
            <a:r>
              <a:rPr lang="en-US" sz="4400" b="1" dirty="0">
                <a:solidFill>
                  <a:schemeClr val="bg1"/>
                </a:solidFill>
              </a:rPr>
              <a:t>Referral Outreach System:</a:t>
            </a:r>
            <a:endParaRPr lang="en-US" sz="4400" dirty="0"/>
          </a:p>
          <a:p>
            <a:pPr marL="0" indent="0" algn="l">
              <a:buNone/>
            </a:pPr>
            <a:r>
              <a:rPr lang="en-US" sz="4400" b="1" dirty="0">
                <a:solidFill>
                  <a:schemeClr val="bg1"/>
                </a:solidFill>
              </a:rPr>
              <a:t>My 3‑Week Roadmap</a:t>
            </a:r>
            <a:endParaRPr lang="en-US" sz="4400" dirty="0"/>
          </a:p>
        </p:txBody>
      </p:sp>
      <p:sp>
        <p:nvSpPr>
          <p:cNvPr id="5" name="Text 0"/>
          <p:cNvSpPr>
            <a:spLocks noGrp="1"/>
          </p:cNvSpPr>
          <p:nvPr>
            <p:ph type="body" idx="102" hasCustomPrompt="1"/>
          </p:nvPr>
        </p:nvSpPr>
        <p:spPr>
          <a:xfrm>
            <a:off x="731520" y="4023360"/>
            <a:ext cx="7772400" cy="914400"/>
          </a:xfrm>
          <a:prstGeom prst="rect">
            <a:avLst/>
          </a:prstGeom>
          <a:noFill/>
          <a:ln/>
        </p:spPr>
        <p:txBody>
          <a:bodyPr wrap="square" lIns="0" tIns="0" rIns="0" bIns="0" rtlCol="0" anchor="t"/>
          <a:lstStyle/>
          <a:p>
            <a:pPr marL="0" indent="0">
              <a:buNone/>
            </a:pPr>
            <a:r>
              <a:rPr lang="en-US" sz="1800" dirty="0">
                <a:solidFill>
                  <a:schemeClr val="bg2"/>
                </a:solidFill>
              </a:rPr>
              <a:t>From mapping every nearby referral source to connecting the CRM with GoHighLevel</a:t>
            </a:r>
            <a:endParaRPr lang="en-US" sz="1800" dirty="0"/>
          </a:p>
        </p:txBody>
      </p:sp>
      <p:sp>
        <p:nvSpPr>
          <p:cNvPr id="6" name="Text 3"/>
          <p:cNvSpPr txBox="1"/>
          <p:nvPr/>
        </p:nvSpPr>
        <p:spPr>
          <a:xfrm>
            <a:off x="731520" y="5943600"/>
            <a:ext cx="5486400" cy="365760"/>
          </a:xfrm>
          <a:prstGeom prst="rect">
            <a:avLst/>
          </a:prstGeom>
          <a:noFill/>
          <a:ln/>
        </p:spPr>
        <p:txBody>
          <a:bodyPr wrap="square" lIns="0" tIns="0" rIns="0" bIns="0" rtlCol="0" anchor="ctr"/>
          <a:lstStyle/>
          <a:p>
            <a:pPr marL="0" indent="0">
              <a:buNone/>
            </a:pPr>
            <a:r>
              <a:rPr lang="en-US" sz="1400" dirty="0">
                <a:solidFill>
                  <a:schemeClr val="accent3"/>
                </a:solidFill>
              </a:rPr>
              <a:t>Prepared by the KAM Team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OVERVIEW</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Three weeks, three building blocks</a:t>
            </a:r>
            <a:endParaRPr lang="en-US" sz="3400" dirty="0"/>
          </a:p>
        </p:txBody>
      </p:sp>
      <p:sp>
        <p:nvSpPr>
          <p:cNvPr id="4" name="Lead Map card"/>
          <p:cNvSpPr/>
          <p:nvPr/>
        </p:nvSpPr>
        <p:spPr>
          <a:xfrm>
            <a:off x="548640" y="1737360"/>
            <a:ext cx="3383280" cy="4023360"/>
          </a:xfrm>
          <a:prstGeom prst="roundRect">
            <a:avLst>
              <a:gd name="adj" fmla="val 3243"/>
            </a:avLst>
          </a:prstGeom>
          <a:solidFill>
            <a:schemeClr val="bg2"/>
          </a:solidFill>
          <a:ln/>
        </p:spPr>
        <p:txBody>
          <a:bodyPr/>
          <a:lstStyle/>
          <a:p>
            <a:endParaRPr lang="en-US"/>
          </a:p>
        </p:txBody>
      </p:sp>
      <p:sp>
        <p:nvSpPr>
          <p:cNvPr id="5" name="Lead Map icon circle"/>
          <p:cNvSpPr/>
          <p:nvPr/>
        </p:nvSpPr>
        <p:spPr>
          <a:xfrm>
            <a:off x="868680" y="2011680"/>
            <a:ext cx="822960" cy="822960"/>
          </a:xfrm>
          <a:prstGeom prst="ellipse">
            <a:avLst/>
          </a:prstGeom>
          <a:solidFill>
            <a:schemeClr val="accent1"/>
          </a:solidFill>
          <a:ln/>
        </p:spPr>
        <p:txBody>
          <a:bodyPr/>
          <a:lstStyle/>
          <a:p>
            <a:endParaRPr lang="en-US"/>
          </a:p>
        </p:txBody>
      </p:sp>
      <p:pic>
        <p:nvPicPr>
          <p:cNvPr id="6" name="Lead Map icon" descr="Lead Map icon"/>
          <p:cNvPicPr>
            <a:picLocks noChangeAspect="1"/>
          </p:cNvPicPr>
          <p:nvPr/>
        </p:nvPicPr>
        <p:blipFill>
          <a:blip r:embed="rId3"/>
          <a:stretch>
            <a:fillRect/>
          </a:stretch>
        </p:blipFill>
        <p:spPr>
          <a:xfrm>
            <a:off x="1074420" y="2217420"/>
            <a:ext cx="411480" cy="411480"/>
          </a:xfrm>
          <a:prstGeom prst="rect">
            <a:avLst/>
          </a:prstGeom>
        </p:spPr>
      </p:pic>
      <p:sp>
        <p:nvSpPr>
          <p:cNvPr id="7" name="Text 4"/>
          <p:cNvSpPr txBox="1"/>
          <p:nvPr/>
        </p:nvSpPr>
        <p:spPr>
          <a:xfrm>
            <a:off x="868680" y="3017520"/>
            <a:ext cx="2743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WEEK 1</a:t>
            </a:r>
            <a:endParaRPr lang="en-US" sz="1200" dirty="0"/>
          </a:p>
        </p:txBody>
      </p:sp>
      <p:sp>
        <p:nvSpPr>
          <p:cNvPr id="8" name="Text 5"/>
          <p:cNvSpPr txBox="1"/>
          <p:nvPr/>
        </p:nvSpPr>
        <p:spPr>
          <a:xfrm>
            <a:off x="868680" y="3291840"/>
            <a:ext cx="274320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Lead Map</a:t>
            </a:r>
            <a:endParaRPr lang="en-US" sz="2400" dirty="0"/>
          </a:p>
        </p:txBody>
      </p:sp>
      <p:sp>
        <p:nvSpPr>
          <p:cNvPr id="9" name="Text 6"/>
          <p:cNvSpPr txBox="1"/>
          <p:nvPr/>
        </p:nvSpPr>
        <p:spPr>
          <a:xfrm>
            <a:off x="868680" y="3749040"/>
            <a:ext cx="2743200" cy="274320"/>
          </a:xfrm>
          <a:prstGeom prst="rect">
            <a:avLst/>
          </a:prstGeom>
          <a:noFill/>
          <a:ln/>
        </p:spPr>
        <p:txBody>
          <a:bodyPr wrap="square" lIns="0" tIns="0" rIns="0" bIns="0" rtlCol="0" anchor="ctr"/>
          <a:lstStyle/>
          <a:p>
            <a:pPr marL="0" indent="0">
              <a:buNone/>
            </a:pPr>
            <a:r>
              <a:rPr lang="en-US" sz="1200" i="1" dirty="0">
                <a:solidFill>
                  <a:schemeClr val="accent6"/>
                </a:solidFill>
              </a:rPr>
              <a:t>Sep 24 – Sep 30</a:t>
            </a:r>
            <a:endParaRPr lang="en-US" sz="1200" dirty="0"/>
          </a:p>
        </p:txBody>
      </p:sp>
      <p:sp>
        <p:nvSpPr>
          <p:cNvPr id="10" name="Text 7"/>
          <p:cNvSpPr txBox="1"/>
          <p:nvPr/>
        </p:nvSpPr>
        <p:spPr>
          <a:xfrm>
            <a:off x="868680" y="4160520"/>
            <a:ext cx="28803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Build specification</a:t>
            </a:r>
            <a:endParaRPr lang="en-US" sz="1500" dirty="0"/>
          </a:p>
          <a:p>
            <a:pPr marL="342900" indent="-342900">
              <a:spcAft>
                <a:spcPts val="600"/>
              </a:spcAft>
              <a:buSzPct val="100000"/>
              <a:buChar char="•"/>
            </a:pPr>
            <a:r>
              <a:rPr lang="en-US" sz="1500" dirty="0">
                <a:solidFill>
                  <a:schemeClr val="tx1"/>
                </a:solidFill>
              </a:rPr>
              <a:t>Live map from 3 data sources</a:t>
            </a:r>
            <a:endParaRPr lang="en-US" sz="1500" dirty="0"/>
          </a:p>
          <a:p>
            <a:pPr marL="342900" indent="-342900">
              <a:spcAft>
                <a:spcPts val="600"/>
              </a:spcAft>
              <a:buSzPct val="100000"/>
              <a:buChar char="•"/>
            </a:pPr>
            <a:r>
              <a:rPr lang="en-US" sz="1500" dirty="0">
                <a:solidFill>
                  <a:schemeClr val="tx1"/>
                </a:solidFill>
              </a:rPr>
              <a:t>Leads + contacts database</a:t>
            </a:r>
            <a:endParaRPr lang="en-US" sz="1500" dirty="0"/>
          </a:p>
        </p:txBody>
      </p:sp>
      <p:pic>
        <p:nvPicPr>
          <p:cNvPr id="11" name="arrow" descr="next"/>
          <p:cNvPicPr>
            <a:picLocks noChangeAspect="1"/>
          </p:cNvPicPr>
          <p:nvPr/>
        </p:nvPicPr>
        <p:blipFill>
          <a:blip r:embed="rId4"/>
          <a:stretch>
            <a:fillRect/>
          </a:stretch>
        </p:blipFill>
        <p:spPr>
          <a:xfrm>
            <a:off x="4041648" y="3566160"/>
            <a:ext cx="237744" cy="365760"/>
          </a:xfrm>
          <a:prstGeom prst="rect">
            <a:avLst/>
          </a:prstGeom>
        </p:spPr>
      </p:pic>
      <p:sp>
        <p:nvSpPr>
          <p:cNvPr id="12" name="Email Connection card"/>
          <p:cNvSpPr/>
          <p:nvPr/>
        </p:nvSpPr>
        <p:spPr>
          <a:xfrm>
            <a:off x="4389120" y="1737360"/>
            <a:ext cx="3383280" cy="4023360"/>
          </a:xfrm>
          <a:prstGeom prst="roundRect">
            <a:avLst>
              <a:gd name="adj" fmla="val 3243"/>
            </a:avLst>
          </a:prstGeom>
          <a:solidFill>
            <a:schemeClr val="bg2"/>
          </a:solidFill>
          <a:ln/>
        </p:spPr>
        <p:txBody>
          <a:bodyPr/>
          <a:lstStyle/>
          <a:p>
            <a:endParaRPr lang="en-US"/>
          </a:p>
        </p:txBody>
      </p:sp>
      <p:sp>
        <p:nvSpPr>
          <p:cNvPr id="13" name="Email Connection icon circle"/>
          <p:cNvSpPr/>
          <p:nvPr/>
        </p:nvSpPr>
        <p:spPr>
          <a:xfrm>
            <a:off x="4709160" y="2011680"/>
            <a:ext cx="822960" cy="822960"/>
          </a:xfrm>
          <a:prstGeom prst="ellipse">
            <a:avLst/>
          </a:prstGeom>
          <a:solidFill>
            <a:schemeClr val="accent1"/>
          </a:solidFill>
          <a:ln/>
        </p:spPr>
        <p:txBody>
          <a:bodyPr/>
          <a:lstStyle/>
          <a:p>
            <a:endParaRPr lang="en-US"/>
          </a:p>
        </p:txBody>
      </p:sp>
      <p:pic>
        <p:nvPicPr>
          <p:cNvPr id="14" name="Email Connection icon" descr="Email Connection icon"/>
          <p:cNvPicPr>
            <a:picLocks noChangeAspect="1"/>
          </p:cNvPicPr>
          <p:nvPr/>
        </p:nvPicPr>
        <p:blipFill>
          <a:blip r:embed="rId5"/>
          <a:stretch>
            <a:fillRect/>
          </a:stretch>
        </p:blipFill>
        <p:spPr>
          <a:xfrm>
            <a:off x="4914900" y="2217420"/>
            <a:ext cx="411480" cy="411480"/>
          </a:xfrm>
          <a:prstGeom prst="rect">
            <a:avLst/>
          </a:prstGeom>
        </p:spPr>
      </p:pic>
      <p:sp>
        <p:nvSpPr>
          <p:cNvPr id="15" name="Text 10"/>
          <p:cNvSpPr txBox="1"/>
          <p:nvPr/>
        </p:nvSpPr>
        <p:spPr>
          <a:xfrm>
            <a:off x="4709160" y="3017520"/>
            <a:ext cx="2743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WEEK 2</a:t>
            </a:r>
            <a:endParaRPr lang="en-US" sz="1200" dirty="0"/>
          </a:p>
        </p:txBody>
      </p:sp>
      <p:sp>
        <p:nvSpPr>
          <p:cNvPr id="16" name="Text 11"/>
          <p:cNvSpPr txBox="1"/>
          <p:nvPr/>
        </p:nvSpPr>
        <p:spPr>
          <a:xfrm>
            <a:off x="4709160" y="3291840"/>
            <a:ext cx="274320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Email Connection</a:t>
            </a:r>
            <a:endParaRPr lang="en-US" sz="2400" dirty="0"/>
          </a:p>
        </p:txBody>
      </p:sp>
      <p:sp>
        <p:nvSpPr>
          <p:cNvPr id="17" name="Text 12"/>
          <p:cNvSpPr txBox="1"/>
          <p:nvPr/>
        </p:nvSpPr>
        <p:spPr>
          <a:xfrm>
            <a:off x="4709160" y="3749040"/>
            <a:ext cx="2743200" cy="274320"/>
          </a:xfrm>
          <a:prstGeom prst="rect">
            <a:avLst/>
          </a:prstGeom>
          <a:noFill/>
          <a:ln/>
        </p:spPr>
        <p:txBody>
          <a:bodyPr wrap="square" lIns="0" tIns="0" rIns="0" bIns="0" rtlCol="0" anchor="ctr"/>
          <a:lstStyle/>
          <a:p>
            <a:pPr marL="0" indent="0">
              <a:buNone/>
            </a:pPr>
            <a:r>
              <a:rPr lang="en-US" sz="1200" i="1" dirty="0">
                <a:solidFill>
                  <a:schemeClr val="accent6"/>
                </a:solidFill>
              </a:rPr>
              <a:t>Oct 1 – Oct 9</a:t>
            </a:r>
            <a:endParaRPr lang="en-US" sz="1200" dirty="0"/>
          </a:p>
        </p:txBody>
      </p:sp>
      <p:sp>
        <p:nvSpPr>
          <p:cNvPr id="18" name="Text 13"/>
          <p:cNvSpPr txBox="1"/>
          <p:nvPr/>
        </p:nvSpPr>
        <p:spPr>
          <a:xfrm>
            <a:off x="4709160" y="4160520"/>
            <a:ext cx="28803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CRM live on Vercel + Supabase</a:t>
            </a:r>
            <a:endParaRPr lang="en-US" sz="1500" dirty="0"/>
          </a:p>
          <a:p>
            <a:pPr marL="342900" indent="-342900">
              <a:spcAft>
                <a:spcPts val="600"/>
              </a:spcAft>
              <a:buSzPct val="100000"/>
              <a:buChar char="•"/>
            </a:pPr>
            <a:r>
              <a:rPr lang="en-US" sz="1500" dirty="0">
                <a:solidFill>
                  <a:schemeClr val="tx1"/>
                </a:solidFill>
              </a:rPr>
              <a:t>CRM → GHL contact webhook</a:t>
            </a:r>
            <a:endParaRPr lang="en-US" sz="1500" dirty="0"/>
          </a:p>
          <a:p>
            <a:pPr marL="342900" indent="-342900">
              <a:spcAft>
                <a:spcPts val="600"/>
              </a:spcAft>
              <a:buSzPct val="100000"/>
              <a:buChar char="•"/>
            </a:pPr>
            <a:r>
              <a:rPr lang="en-US" sz="1500" dirty="0">
                <a:solidFill>
                  <a:schemeClr val="tx1"/>
                </a:solidFill>
              </a:rPr>
              <a:t>Campaign Writer + approvals</a:t>
            </a:r>
            <a:endParaRPr lang="en-US" sz="1500" dirty="0"/>
          </a:p>
        </p:txBody>
      </p:sp>
      <p:pic>
        <p:nvPicPr>
          <p:cNvPr id="19" name="arrow" descr="next"/>
          <p:cNvPicPr>
            <a:picLocks noChangeAspect="1"/>
          </p:cNvPicPr>
          <p:nvPr/>
        </p:nvPicPr>
        <p:blipFill>
          <a:blip r:embed="rId4"/>
          <a:stretch>
            <a:fillRect/>
          </a:stretch>
        </p:blipFill>
        <p:spPr>
          <a:xfrm>
            <a:off x="7882128" y="3566160"/>
            <a:ext cx="237744" cy="365760"/>
          </a:xfrm>
          <a:prstGeom prst="rect">
            <a:avLst/>
          </a:prstGeom>
        </p:spPr>
      </p:pic>
      <p:sp>
        <p:nvSpPr>
          <p:cNvPr id="20" name="GHL + Automation card"/>
          <p:cNvSpPr/>
          <p:nvPr/>
        </p:nvSpPr>
        <p:spPr>
          <a:xfrm>
            <a:off x="8229600" y="1737360"/>
            <a:ext cx="3383280" cy="4023360"/>
          </a:xfrm>
          <a:prstGeom prst="roundRect">
            <a:avLst>
              <a:gd name="adj" fmla="val 3243"/>
            </a:avLst>
          </a:prstGeom>
          <a:solidFill>
            <a:schemeClr val="bg2"/>
          </a:solidFill>
          <a:ln/>
        </p:spPr>
        <p:txBody>
          <a:bodyPr/>
          <a:lstStyle/>
          <a:p>
            <a:endParaRPr lang="en-US"/>
          </a:p>
        </p:txBody>
      </p:sp>
      <p:sp>
        <p:nvSpPr>
          <p:cNvPr id="21" name="GHL + Automation icon circle"/>
          <p:cNvSpPr/>
          <p:nvPr/>
        </p:nvSpPr>
        <p:spPr>
          <a:xfrm>
            <a:off x="8549640" y="2011680"/>
            <a:ext cx="822960" cy="822960"/>
          </a:xfrm>
          <a:prstGeom prst="ellipse">
            <a:avLst/>
          </a:prstGeom>
          <a:solidFill>
            <a:schemeClr val="accent1"/>
          </a:solidFill>
          <a:ln/>
        </p:spPr>
        <p:txBody>
          <a:bodyPr/>
          <a:lstStyle/>
          <a:p>
            <a:endParaRPr lang="en-US"/>
          </a:p>
        </p:txBody>
      </p:sp>
      <p:pic>
        <p:nvPicPr>
          <p:cNvPr id="22" name="GHL + Automation icon" descr="GHL + Automation icon"/>
          <p:cNvPicPr>
            <a:picLocks noChangeAspect="1"/>
          </p:cNvPicPr>
          <p:nvPr/>
        </p:nvPicPr>
        <p:blipFill>
          <a:blip r:embed="rId6"/>
          <a:stretch>
            <a:fillRect/>
          </a:stretch>
        </p:blipFill>
        <p:spPr>
          <a:xfrm>
            <a:off x="8755380" y="2217420"/>
            <a:ext cx="411480" cy="411480"/>
          </a:xfrm>
          <a:prstGeom prst="rect">
            <a:avLst/>
          </a:prstGeom>
        </p:spPr>
      </p:pic>
      <p:sp>
        <p:nvSpPr>
          <p:cNvPr id="23" name="Text 16"/>
          <p:cNvSpPr txBox="1"/>
          <p:nvPr/>
        </p:nvSpPr>
        <p:spPr>
          <a:xfrm>
            <a:off x="8549640" y="3017520"/>
            <a:ext cx="2743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WEEK 3</a:t>
            </a:r>
            <a:endParaRPr lang="en-US" sz="1200" dirty="0"/>
          </a:p>
        </p:txBody>
      </p:sp>
      <p:sp>
        <p:nvSpPr>
          <p:cNvPr id="24" name="Text 17"/>
          <p:cNvSpPr txBox="1"/>
          <p:nvPr/>
        </p:nvSpPr>
        <p:spPr>
          <a:xfrm>
            <a:off x="8549640" y="3291840"/>
            <a:ext cx="274320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GHL + Automation</a:t>
            </a:r>
            <a:endParaRPr lang="en-US" sz="2400" dirty="0"/>
          </a:p>
        </p:txBody>
      </p:sp>
      <p:sp>
        <p:nvSpPr>
          <p:cNvPr id="25" name="Text 18"/>
          <p:cNvSpPr txBox="1"/>
          <p:nvPr/>
        </p:nvSpPr>
        <p:spPr>
          <a:xfrm>
            <a:off x="8549640" y="3749040"/>
            <a:ext cx="2743200" cy="274320"/>
          </a:xfrm>
          <a:prstGeom prst="rect">
            <a:avLst/>
          </a:prstGeom>
          <a:noFill/>
          <a:ln/>
        </p:spPr>
        <p:txBody>
          <a:bodyPr wrap="square" lIns="0" tIns="0" rIns="0" bIns="0" rtlCol="0" anchor="ctr"/>
          <a:lstStyle/>
          <a:p>
            <a:pPr marL="0" indent="0">
              <a:buNone/>
            </a:pPr>
            <a:r>
              <a:rPr lang="en-US" sz="1200" i="1" dirty="0">
                <a:solidFill>
                  <a:schemeClr val="accent6"/>
                </a:solidFill>
              </a:rPr>
              <a:t>Oct 10 – Oct 16</a:t>
            </a:r>
            <a:endParaRPr lang="en-US" sz="1200" dirty="0"/>
          </a:p>
        </p:txBody>
      </p:sp>
      <p:sp>
        <p:nvSpPr>
          <p:cNvPr id="26" name="Text 19"/>
          <p:cNvSpPr txBox="1"/>
          <p:nvPr/>
        </p:nvSpPr>
        <p:spPr>
          <a:xfrm>
            <a:off x="8549640" y="4160520"/>
            <a:ext cx="28803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8 referral emails written</a:t>
            </a:r>
            <a:endParaRPr lang="en-US" sz="1500" dirty="0"/>
          </a:p>
          <a:p>
            <a:pPr marL="342900" indent="-342900">
              <a:spcAft>
                <a:spcPts val="600"/>
              </a:spcAft>
              <a:buSzPct val="100000"/>
              <a:buChar char="•"/>
            </a:pPr>
            <a:r>
              <a:rPr lang="en-US" sz="1500" dirty="0">
                <a:solidFill>
                  <a:schemeClr val="tx1"/>
                </a:solidFill>
              </a:rPr>
              <a:t>All 8 built in GHL</a:t>
            </a:r>
            <a:endParaRPr lang="en-US" sz="1500" dirty="0"/>
          </a:p>
          <a:p>
            <a:pPr marL="342900" indent="-342900">
              <a:spcAft>
                <a:spcPts val="600"/>
              </a:spcAft>
              <a:buSzPct val="100000"/>
              <a:buChar char="•"/>
            </a:pPr>
            <a:r>
              <a:rPr lang="en-US" sz="1500" dirty="0">
                <a:solidFill>
                  <a:schemeClr val="tx1"/>
                </a:solidFill>
              </a:rPr>
              <a:t>Email sending: in research</a:t>
            </a:r>
            <a:endParaRPr lang="en-US" sz="1500" dirty="0"/>
          </a:p>
        </p:txBody>
      </p:sp>
      <p:sp>
        <p:nvSpPr>
          <p:cNvPr id="27" name="Text 20"/>
          <p:cNvSpPr txBox="1"/>
          <p:nvPr/>
        </p:nvSpPr>
        <p:spPr>
          <a:xfrm>
            <a:off x="548640" y="5897880"/>
            <a:ext cx="11064240" cy="365760"/>
          </a:xfrm>
          <a:prstGeom prst="rect">
            <a:avLst/>
          </a:prstGeom>
          <a:noFill/>
          <a:ln/>
        </p:spPr>
        <p:txBody>
          <a:bodyPr wrap="square" lIns="0" tIns="0" rIns="0" bIns="0" rtlCol="0" anchor="ctr"/>
          <a:lstStyle/>
          <a:p>
            <a:pPr marL="0" indent="0">
              <a:buNone/>
            </a:pPr>
            <a:r>
              <a:rPr lang="en-US" sz="1500" i="1" dirty="0">
                <a:solidFill>
                  <a:schemeClr val="accent2"/>
                </a:solidFill>
              </a:rPr>
              <a:t>Where it stands: the map, the CRM and the GHL emails are built. The last link, sending the emails automatically, is still in research.</a:t>
            </a:r>
            <a:endParaRPr lang="en-US" sz="15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WEEK 1  ·  SEP 24 – SEP 30</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Built a live map of every referral source nearby</a:t>
            </a:r>
            <a:endParaRPr lang="en-US" sz="3400" dirty="0"/>
          </a:p>
        </p:txBody>
      </p:sp>
      <p:sp>
        <p:nvSpPr>
          <p:cNvPr id="4" name="stat 0"/>
          <p:cNvSpPr/>
          <p:nvPr/>
        </p:nvSpPr>
        <p:spPr>
          <a:xfrm>
            <a:off x="548640" y="1737360"/>
            <a:ext cx="3383280" cy="1188720"/>
          </a:xfrm>
          <a:prstGeom prst="roundRect">
            <a:avLst>
              <a:gd name="adj" fmla="val 9231"/>
            </a:avLst>
          </a:prstGeom>
          <a:solidFill>
            <a:schemeClr val="bg2"/>
          </a:solidFill>
          <a:ln/>
        </p:spPr>
        <p:txBody>
          <a:bodyPr/>
          <a:lstStyle/>
          <a:p>
            <a:endParaRPr lang="en-US"/>
          </a:p>
        </p:txBody>
      </p:sp>
      <p:sp>
        <p:nvSpPr>
          <p:cNvPr id="5" name="Text 3"/>
          <p:cNvSpPr txBox="1"/>
          <p:nvPr/>
        </p:nvSpPr>
        <p:spPr>
          <a:xfrm>
            <a:off x="777240" y="1828800"/>
            <a:ext cx="3017520" cy="54864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5,500+</a:t>
            </a:r>
            <a:endParaRPr lang="en-US" sz="3400" dirty="0"/>
          </a:p>
        </p:txBody>
      </p:sp>
      <p:sp>
        <p:nvSpPr>
          <p:cNvPr id="6" name="Text 4"/>
          <p:cNvSpPr txBox="1"/>
          <p:nvPr/>
        </p:nvSpPr>
        <p:spPr>
          <a:xfrm>
            <a:off x="777240" y="2359152"/>
            <a:ext cx="3017520" cy="502920"/>
          </a:xfrm>
          <a:prstGeom prst="rect">
            <a:avLst/>
          </a:prstGeom>
          <a:noFill/>
          <a:ln/>
        </p:spPr>
        <p:txBody>
          <a:bodyPr wrap="square" lIns="0" tIns="0" rIns="0" bIns="0" rtlCol="0" anchor="t"/>
          <a:lstStyle/>
          <a:p>
            <a:pPr marL="0" indent="0">
              <a:buNone/>
            </a:pPr>
            <a:r>
              <a:rPr lang="en-US" sz="1300" dirty="0">
                <a:solidFill>
                  <a:schemeClr val="accent6"/>
                </a:solidFill>
              </a:rPr>
              <a:t>facilities found within 25 miles of Valley Village</a:t>
            </a:r>
            <a:endParaRPr lang="en-US" sz="1300" dirty="0"/>
          </a:p>
        </p:txBody>
      </p:sp>
      <p:sp>
        <p:nvSpPr>
          <p:cNvPr id="7" name="stat 1"/>
          <p:cNvSpPr/>
          <p:nvPr/>
        </p:nvSpPr>
        <p:spPr>
          <a:xfrm>
            <a:off x="548640" y="3108960"/>
            <a:ext cx="3383280" cy="1188720"/>
          </a:xfrm>
          <a:prstGeom prst="roundRect">
            <a:avLst>
              <a:gd name="adj" fmla="val 9231"/>
            </a:avLst>
          </a:prstGeom>
          <a:solidFill>
            <a:schemeClr val="bg2"/>
          </a:solidFill>
          <a:ln/>
        </p:spPr>
        <p:txBody>
          <a:bodyPr/>
          <a:lstStyle/>
          <a:p>
            <a:endParaRPr lang="en-US"/>
          </a:p>
        </p:txBody>
      </p:sp>
      <p:sp>
        <p:nvSpPr>
          <p:cNvPr id="8" name="Text 6"/>
          <p:cNvSpPr txBox="1"/>
          <p:nvPr/>
        </p:nvSpPr>
        <p:spPr>
          <a:xfrm>
            <a:off x="777240" y="3200400"/>
            <a:ext cx="3017520" cy="54864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3</a:t>
            </a:r>
            <a:endParaRPr lang="en-US" sz="3400" dirty="0"/>
          </a:p>
        </p:txBody>
      </p:sp>
      <p:sp>
        <p:nvSpPr>
          <p:cNvPr id="9" name="Text 7"/>
          <p:cNvSpPr txBox="1"/>
          <p:nvPr/>
        </p:nvSpPr>
        <p:spPr>
          <a:xfrm>
            <a:off x="777240" y="3730752"/>
            <a:ext cx="3017520" cy="502920"/>
          </a:xfrm>
          <a:prstGeom prst="rect">
            <a:avLst/>
          </a:prstGeom>
          <a:noFill/>
          <a:ln/>
        </p:spPr>
        <p:txBody>
          <a:bodyPr wrap="square" lIns="0" tIns="0" rIns="0" bIns="0" rtlCol="0" anchor="t"/>
          <a:lstStyle/>
          <a:p>
            <a:pPr marL="0" indent="0">
              <a:buNone/>
            </a:pPr>
            <a:r>
              <a:rPr lang="en-US" sz="1300" dirty="0">
                <a:solidFill>
                  <a:schemeClr val="accent6"/>
                </a:solidFill>
              </a:rPr>
              <a:t>data sources combined: CDPH, OpenStreetMap, OSD</a:t>
            </a:r>
            <a:endParaRPr lang="en-US" sz="1300" dirty="0"/>
          </a:p>
        </p:txBody>
      </p:sp>
      <p:sp>
        <p:nvSpPr>
          <p:cNvPr id="10" name="stat 2"/>
          <p:cNvSpPr/>
          <p:nvPr/>
        </p:nvSpPr>
        <p:spPr>
          <a:xfrm>
            <a:off x="548640" y="4480560"/>
            <a:ext cx="3383280" cy="1188720"/>
          </a:xfrm>
          <a:prstGeom prst="roundRect">
            <a:avLst>
              <a:gd name="adj" fmla="val 9231"/>
            </a:avLst>
          </a:prstGeom>
          <a:solidFill>
            <a:schemeClr val="bg2"/>
          </a:solidFill>
          <a:ln/>
        </p:spPr>
        <p:txBody>
          <a:bodyPr/>
          <a:lstStyle/>
          <a:p>
            <a:endParaRPr lang="en-US"/>
          </a:p>
        </p:txBody>
      </p:sp>
      <p:sp>
        <p:nvSpPr>
          <p:cNvPr id="11" name="Text 9"/>
          <p:cNvSpPr txBox="1"/>
          <p:nvPr/>
        </p:nvSpPr>
        <p:spPr>
          <a:xfrm>
            <a:off x="777240" y="4572000"/>
            <a:ext cx="3017520" cy="54864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540</a:t>
            </a:r>
            <a:endParaRPr lang="en-US" sz="3400" dirty="0"/>
          </a:p>
        </p:txBody>
      </p:sp>
      <p:sp>
        <p:nvSpPr>
          <p:cNvPr id="12" name="Text 10"/>
          <p:cNvSpPr txBox="1"/>
          <p:nvPr/>
        </p:nvSpPr>
        <p:spPr>
          <a:xfrm>
            <a:off x="777240" y="5102352"/>
            <a:ext cx="3017520" cy="502920"/>
          </a:xfrm>
          <a:prstGeom prst="rect">
            <a:avLst/>
          </a:prstGeom>
          <a:noFill/>
          <a:ln/>
        </p:spPr>
        <p:txBody>
          <a:bodyPr wrap="square" lIns="0" tIns="0" rIns="0" bIns="0" rtlCol="0" anchor="t"/>
          <a:lstStyle/>
          <a:p>
            <a:pPr marL="0" indent="0">
              <a:buNone/>
            </a:pPr>
            <a:r>
              <a:rPr lang="en-US" sz="1300" dirty="0">
                <a:solidFill>
                  <a:schemeClr val="accent6"/>
                </a:solidFill>
              </a:rPr>
              <a:t>hospitals, SNFs, LTACs and rehab centers ready to add as leads</a:t>
            </a:r>
            <a:endParaRPr lang="en-US" sz="1300" dirty="0"/>
          </a:p>
        </p:txBody>
      </p:sp>
      <p:pic>
        <p:nvPicPr>
          <p:cNvPr id="13" name="Hospitals Map screenshot" descr="Hospitals Map screenshot"/>
          <p:cNvPicPr>
            <a:picLocks noChangeAspect="1"/>
          </p:cNvPicPr>
          <p:nvPr/>
        </p:nvPicPr>
        <p:blipFill>
          <a:blip r:embed="rId3"/>
          <a:stretch>
            <a:fillRect/>
          </a:stretch>
        </p:blipFill>
        <p:spPr>
          <a:xfrm>
            <a:off x="4206240" y="1756678"/>
            <a:ext cx="7406640" cy="3527523"/>
          </a:xfrm>
          <a:prstGeom prst="rect">
            <a:avLst/>
          </a:prstGeom>
        </p:spPr>
      </p:pic>
      <p:sp>
        <p:nvSpPr>
          <p:cNvPr id="14" name="Hospitals Map screenshot frame"/>
          <p:cNvSpPr/>
          <p:nvPr/>
        </p:nvSpPr>
        <p:spPr>
          <a:xfrm>
            <a:off x="4206240" y="1756678"/>
            <a:ext cx="7406640" cy="3527523"/>
          </a:xfrm>
          <a:prstGeom prst="rect">
            <a:avLst/>
          </a:prstGeom>
          <a:ln w="12700">
            <a:solidFill>
              <a:schemeClr val="accent4"/>
            </a:solidFill>
            <a:prstDash val="solid"/>
          </a:ln>
        </p:spPr>
        <p:txBody>
          <a:bodyPr/>
          <a:lstStyle/>
          <a:p>
            <a:endParaRPr lang="en-US"/>
          </a:p>
        </p:txBody>
      </p:sp>
      <p:sp>
        <p:nvSpPr>
          <p:cNvPr id="15" name="Text 12"/>
          <p:cNvSpPr txBox="1"/>
          <p:nvPr/>
        </p:nvSpPr>
        <p:spPr>
          <a:xfrm>
            <a:off x="4206240" y="5440680"/>
            <a:ext cx="7406640" cy="548640"/>
          </a:xfrm>
          <a:prstGeom prst="rect">
            <a:avLst/>
          </a:prstGeom>
          <a:noFill/>
          <a:ln/>
        </p:spPr>
        <p:txBody>
          <a:bodyPr wrap="square" lIns="0" tIns="0" rIns="0" bIns="0" rtlCol="0" anchor="t"/>
          <a:lstStyle/>
          <a:p>
            <a:pPr marL="0" indent="0">
              <a:buNone/>
            </a:pPr>
            <a:r>
              <a:rPr lang="en-US" sz="1300" i="1" dirty="0">
                <a:solidFill>
                  <a:schemeClr val="accent6"/>
                </a:solidFill>
              </a:rPr>
              <a:t>The live Hospitals Map: 5, 10, 25 or 50-mile scan around either home, pins colored by facility type or contact info, and “Add All Leads” in one click</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WEEK 1  ·  LEADS AND CONTACTS</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Every lead now has a stage in the pipeline</a:t>
            </a:r>
            <a:endParaRPr lang="en-US" sz="3400" dirty="0"/>
          </a:p>
        </p:txBody>
      </p:sp>
      <p:sp>
        <p:nvSpPr>
          <p:cNvPr id="4" name="stage New"/>
          <p:cNvSpPr/>
          <p:nvPr/>
        </p:nvSpPr>
        <p:spPr>
          <a:xfrm>
            <a:off x="548640" y="1691640"/>
            <a:ext cx="1920240" cy="777240"/>
          </a:xfrm>
          <a:prstGeom prst="homePlate">
            <a:avLst/>
          </a:prstGeom>
          <a:solidFill>
            <a:schemeClr val="accent1"/>
          </a:solidFill>
          <a:ln/>
        </p:spPr>
        <p:txBody>
          <a:bodyPr/>
          <a:lstStyle/>
          <a:p>
            <a:endParaRPr lang="en-US"/>
          </a:p>
        </p:txBody>
      </p:sp>
      <p:sp>
        <p:nvSpPr>
          <p:cNvPr id="5" name="Text 3"/>
          <p:cNvSpPr txBox="1"/>
          <p:nvPr/>
        </p:nvSpPr>
        <p:spPr>
          <a:xfrm>
            <a:off x="777240" y="1691640"/>
            <a:ext cx="1645920" cy="777240"/>
          </a:xfrm>
          <a:prstGeom prst="rect">
            <a:avLst/>
          </a:prstGeom>
          <a:noFill/>
          <a:ln/>
        </p:spPr>
        <p:txBody>
          <a:bodyPr wrap="square" lIns="0" tIns="0" rIns="0" bIns="0" rtlCol="0" anchor="ctr"/>
          <a:lstStyle/>
          <a:p>
            <a:pPr marL="0" indent="0" algn="ctr">
              <a:buNone/>
            </a:pPr>
            <a:r>
              <a:rPr lang="en-US" sz="1300" b="1" dirty="0">
                <a:solidFill>
                  <a:schemeClr val="bg1"/>
                </a:solidFill>
              </a:rPr>
              <a:t>New</a:t>
            </a:r>
            <a:endParaRPr lang="en-US" sz="1300" dirty="0"/>
          </a:p>
        </p:txBody>
      </p:sp>
      <p:sp>
        <p:nvSpPr>
          <p:cNvPr id="6" name="stage Researched"/>
          <p:cNvSpPr/>
          <p:nvPr/>
        </p:nvSpPr>
        <p:spPr>
          <a:xfrm>
            <a:off x="2404872" y="1691640"/>
            <a:ext cx="1920240" cy="777240"/>
          </a:xfrm>
          <a:prstGeom prst="chevron">
            <a:avLst/>
          </a:prstGeom>
          <a:solidFill>
            <a:schemeClr val="accent1"/>
          </a:solidFill>
          <a:ln/>
        </p:spPr>
        <p:txBody>
          <a:bodyPr/>
          <a:lstStyle/>
          <a:p>
            <a:endParaRPr lang="en-US"/>
          </a:p>
        </p:txBody>
      </p:sp>
      <p:sp>
        <p:nvSpPr>
          <p:cNvPr id="7" name="Text 5"/>
          <p:cNvSpPr txBox="1"/>
          <p:nvPr/>
        </p:nvSpPr>
        <p:spPr>
          <a:xfrm>
            <a:off x="2633472" y="1691640"/>
            <a:ext cx="1645920" cy="777240"/>
          </a:xfrm>
          <a:prstGeom prst="rect">
            <a:avLst/>
          </a:prstGeom>
          <a:noFill/>
          <a:ln/>
        </p:spPr>
        <p:txBody>
          <a:bodyPr wrap="square" lIns="0" tIns="0" rIns="0" bIns="0" rtlCol="0" anchor="ctr"/>
          <a:lstStyle/>
          <a:p>
            <a:pPr marL="0" indent="0" algn="ctr">
              <a:buNone/>
            </a:pPr>
            <a:r>
              <a:rPr lang="en-US" sz="1300" b="1" dirty="0">
                <a:solidFill>
                  <a:schemeClr val="bg1"/>
                </a:solidFill>
              </a:rPr>
              <a:t>Researched</a:t>
            </a:r>
            <a:endParaRPr lang="en-US" sz="1300" dirty="0"/>
          </a:p>
        </p:txBody>
      </p:sp>
      <p:sp>
        <p:nvSpPr>
          <p:cNvPr id="8" name="stage Contacted"/>
          <p:cNvSpPr/>
          <p:nvPr/>
        </p:nvSpPr>
        <p:spPr>
          <a:xfrm>
            <a:off x="4261104" y="1691640"/>
            <a:ext cx="1920240" cy="777240"/>
          </a:xfrm>
          <a:prstGeom prst="chevron">
            <a:avLst/>
          </a:prstGeom>
          <a:solidFill>
            <a:schemeClr val="accent1"/>
          </a:solidFill>
          <a:ln/>
        </p:spPr>
        <p:txBody>
          <a:bodyPr/>
          <a:lstStyle/>
          <a:p>
            <a:endParaRPr lang="en-US"/>
          </a:p>
        </p:txBody>
      </p:sp>
      <p:sp>
        <p:nvSpPr>
          <p:cNvPr id="9" name="Text 7"/>
          <p:cNvSpPr txBox="1"/>
          <p:nvPr/>
        </p:nvSpPr>
        <p:spPr>
          <a:xfrm>
            <a:off x="4489704" y="1691640"/>
            <a:ext cx="1645920" cy="777240"/>
          </a:xfrm>
          <a:prstGeom prst="rect">
            <a:avLst/>
          </a:prstGeom>
          <a:noFill/>
          <a:ln/>
        </p:spPr>
        <p:txBody>
          <a:bodyPr wrap="square" lIns="0" tIns="0" rIns="0" bIns="0" rtlCol="0" anchor="ctr"/>
          <a:lstStyle/>
          <a:p>
            <a:pPr marL="0" indent="0" algn="ctr">
              <a:buNone/>
            </a:pPr>
            <a:r>
              <a:rPr lang="en-US" sz="1300" b="1" dirty="0">
                <a:solidFill>
                  <a:schemeClr val="bg1"/>
                </a:solidFill>
              </a:rPr>
              <a:t>Contacted</a:t>
            </a:r>
            <a:endParaRPr lang="en-US" sz="1300" dirty="0"/>
          </a:p>
        </p:txBody>
      </p:sp>
      <p:sp>
        <p:nvSpPr>
          <p:cNvPr id="10" name="stage Engaged"/>
          <p:cNvSpPr/>
          <p:nvPr/>
        </p:nvSpPr>
        <p:spPr>
          <a:xfrm>
            <a:off x="6117336" y="1691640"/>
            <a:ext cx="1920240" cy="777240"/>
          </a:xfrm>
          <a:prstGeom prst="chevron">
            <a:avLst/>
          </a:prstGeom>
          <a:solidFill>
            <a:schemeClr val="accent1"/>
          </a:solidFill>
          <a:ln/>
        </p:spPr>
        <p:txBody>
          <a:bodyPr/>
          <a:lstStyle/>
          <a:p>
            <a:endParaRPr lang="en-US"/>
          </a:p>
        </p:txBody>
      </p:sp>
      <p:sp>
        <p:nvSpPr>
          <p:cNvPr id="11" name="Text 9"/>
          <p:cNvSpPr txBox="1"/>
          <p:nvPr/>
        </p:nvSpPr>
        <p:spPr>
          <a:xfrm>
            <a:off x="6345936" y="1691640"/>
            <a:ext cx="1645920" cy="777240"/>
          </a:xfrm>
          <a:prstGeom prst="rect">
            <a:avLst/>
          </a:prstGeom>
          <a:noFill/>
          <a:ln/>
        </p:spPr>
        <p:txBody>
          <a:bodyPr wrap="square" lIns="0" tIns="0" rIns="0" bIns="0" rtlCol="0" anchor="ctr"/>
          <a:lstStyle/>
          <a:p>
            <a:pPr marL="0" indent="0" algn="ctr">
              <a:buNone/>
            </a:pPr>
            <a:r>
              <a:rPr lang="en-US" sz="1300" b="1" dirty="0">
                <a:solidFill>
                  <a:schemeClr val="bg1"/>
                </a:solidFill>
              </a:rPr>
              <a:t>Engaged</a:t>
            </a:r>
            <a:endParaRPr lang="en-US" sz="1300" dirty="0"/>
          </a:p>
        </p:txBody>
      </p:sp>
      <p:sp>
        <p:nvSpPr>
          <p:cNvPr id="12" name="stage Referral Received"/>
          <p:cNvSpPr/>
          <p:nvPr/>
        </p:nvSpPr>
        <p:spPr>
          <a:xfrm>
            <a:off x="7973568" y="1691640"/>
            <a:ext cx="1920240" cy="777240"/>
          </a:xfrm>
          <a:prstGeom prst="chevron">
            <a:avLst/>
          </a:prstGeom>
          <a:solidFill>
            <a:schemeClr val="accent1"/>
          </a:solidFill>
          <a:ln/>
        </p:spPr>
        <p:txBody>
          <a:bodyPr/>
          <a:lstStyle/>
          <a:p>
            <a:endParaRPr lang="en-US"/>
          </a:p>
        </p:txBody>
      </p:sp>
      <p:sp>
        <p:nvSpPr>
          <p:cNvPr id="13" name="Text 11"/>
          <p:cNvSpPr txBox="1"/>
          <p:nvPr/>
        </p:nvSpPr>
        <p:spPr>
          <a:xfrm>
            <a:off x="8202168" y="1691640"/>
            <a:ext cx="1645920" cy="777240"/>
          </a:xfrm>
          <a:prstGeom prst="rect">
            <a:avLst/>
          </a:prstGeom>
          <a:noFill/>
          <a:ln/>
        </p:spPr>
        <p:txBody>
          <a:bodyPr wrap="square" lIns="0" tIns="0" rIns="0" bIns="0" rtlCol="0" anchor="ctr"/>
          <a:lstStyle/>
          <a:p>
            <a:pPr marL="0" indent="0" algn="ctr">
              <a:buNone/>
            </a:pPr>
            <a:r>
              <a:rPr lang="en-US" sz="1300" b="1" dirty="0">
                <a:solidFill>
                  <a:schemeClr val="bg1"/>
                </a:solidFill>
              </a:rPr>
              <a:t>Referral Received</a:t>
            </a:r>
            <a:endParaRPr lang="en-US" sz="1300" dirty="0"/>
          </a:p>
        </p:txBody>
      </p:sp>
      <p:sp>
        <p:nvSpPr>
          <p:cNvPr id="14" name="stage Active Partner"/>
          <p:cNvSpPr/>
          <p:nvPr/>
        </p:nvSpPr>
        <p:spPr>
          <a:xfrm>
            <a:off x="9829800" y="1691640"/>
            <a:ext cx="1920240" cy="777240"/>
          </a:xfrm>
          <a:prstGeom prst="chevron">
            <a:avLst/>
          </a:prstGeom>
          <a:solidFill>
            <a:schemeClr val="accent2"/>
          </a:solidFill>
          <a:ln/>
        </p:spPr>
        <p:txBody>
          <a:bodyPr/>
          <a:lstStyle/>
          <a:p>
            <a:endParaRPr lang="en-US"/>
          </a:p>
        </p:txBody>
      </p:sp>
      <p:sp>
        <p:nvSpPr>
          <p:cNvPr id="15" name="Text 13"/>
          <p:cNvSpPr txBox="1"/>
          <p:nvPr/>
        </p:nvSpPr>
        <p:spPr>
          <a:xfrm>
            <a:off x="10058400" y="1691640"/>
            <a:ext cx="1645920" cy="777240"/>
          </a:xfrm>
          <a:prstGeom prst="rect">
            <a:avLst/>
          </a:prstGeom>
          <a:noFill/>
          <a:ln/>
        </p:spPr>
        <p:txBody>
          <a:bodyPr wrap="square" lIns="0" tIns="0" rIns="0" bIns="0" rtlCol="0" anchor="ctr"/>
          <a:lstStyle/>
          <a:p>
            <a:pPr marL="0" indent="0" algn="ctr">
              <a:buNone/>
            </a:pPr>
            <a:r>
              <a:rPr lang="en-US" sz="1300" b="1" dirty="0">
                <a:solidFill>
                  <a:schemeClr val="bg1"/>
                </a:solidFill>
              </a:rPr>
              <a:t>Active Partner</a:t>
            </a:r>
            <a:endParaRPr lang="en-US" sz="1300" dirty="0"/>
          </a:p>
        </p:txBody>
      </p:sp>
      <p:pic>
        <p:nvPicPr>
          <p:cNvPr id="16" name="Leads page screenshot" descr="Leads page screenshot"/>
          <p:cNvPicPr>
            <a:picLocks noChangeAspect="1"/>
          </p:cNvPicPr>
          <p:nvPr/>
        </p:nvPicPr>
        <p:blipFill>
          <a:blip r:embed="rId3"/>
          <a:stretch>
            <a:fillRect/>
          </a:stretch>
        </p:blipFill>
        <p:spPr>
          <a:xfrm>
            <a:off x="548640" y="2854245"/>
            <a:ext cx="6035040" cy="2886871"/>
          </a:xfrm>
          <a:prstGeom prst="rect">
            <a:avLst/>
          </a:prstGeom>
        </p:spPr>
      </p:pic>
      <p:sp>
        <p:nvSpPr>
          <p:cNvPr id="17" name="Leads page screenshot frame"/>
          <p:cNvSpPr/>
          <p:nvPr/>
        </p:nvSpPr>
        <p:spPr>
          <a:xfrm>
            <a:off x="548640" y="2854245"/>
            <a:ext cx="6035040" cy="2886871"/>
          </a:xfrm>
          <a:prstGeom prst="rect">
            <a:avLst/>
          </a:prstGeom>
          <a:ln w="12700">
            <a:solidFill>
              <a:schemeClr val="accent4"/>
            </a:solidFill>
            <a:prstDash val="solid"/>
          </a:ln>
        </p:spPr>
        <p:txBody>
          <a:bodyPr/>
          <a:lstStyle/>
          <a:p>
            <a:endParaRPr lang="en-US"/>
          </a:p>
        </p:txBody>
      </p:sp>
      <p:sp>
        <p:nvSpPr>
          <p:cNvPr id="18" name="Text 15"/>
          <p:cNvSpPr txBox="1"/>
          <p:nvPr/>
        </p:nvSpPr>
        <p:spPr>
          <a:xfrm>
            <a:off x="548640" y="5897880"/>
            <a:ext cx="6035040" cy="274320"/>
          </a:xfrm>
          <a:prstGeom prst="rect">
            <a:avLst/>
          </a:prstGeom>
          <a:noFill/>
          <a:ln/>
        </p:spPr>
        <p:txBody>
          <a:bodyPr wrap="square" lIns="0" tIns="0" rIns="0" bIns="0" rtlCol="0" anchor="ctr"/>
          <a:lstStyle/>
          <a:p>
            <a:pPr marL="0" indent="0">
              <a:buNone/>
            </a:pPr>
            <a:r>
              <a:rPr lang="en-US" sz="1200" i="1" dirty="0">
                <a:solidFill>
                  <a:schemeClr val="accent6"/>
                </a:solidFill>
              </a:rPr>
              <a:t>Leads page in the live CRM</a:t>
            </a:r>
            <a:endParaRPr lang="en-US" sz="1200" dirty="0"/>
          </a:p>
        </p:txBody>
      </p:sp>
      <p:sp>
        <p:nvSpPr>
          <p:cNvPr id="19" name="Searchable lead database circle"/>
          <p:cNvSpPr/>
          <p:nvPr/>
        </p:nvSpPr>
        <p:spPr>
          <a:xfrm>
            <a:off x="6949440" y="2834640"/>
            <a:ext cx="548640" cy="548640"/>
          </a:xfrm>
          <a:prstGeom prst="ellipse">
            <a:avLst/>
          </a:prstGeom>
          <a:solidFill>
            <a:schemeClr val="accent3"/>
          </a:solidFill>
          <a:ln/>
        </p:spPr>
        <p:txBody>
          <a:bodyPr/>
          <a:lstStyle/>
          <a:p>
            <a:endParaRPr lang="en-US"/>
          </a:p>
        </p:txBody>
      </p:sp>
      <p:pic>
        <p:nvPicPr>
          <p:cNvPr id="20" name="Searchable lead database" descr="Searchable lead database"/>
          <p:cNvPicPr>
            <a:picLocks noChangeAspect="1"/>
          </p:cNvPicPr>
          <p:nvPr/>
        </p:nvPicPr>
        <p:blipFill>
          <a:blip r:embed="rId4"/>
          <a:stretch>
            <a:fillRect/>
          </a:stretch>
        </p:blipFill>
        <p:spPr>
          <a:xfrm>
            <a:off x="7086600" y="2971800"/>
            <a:ext cx="274320" cy="274320"/>
          </a:xfrm>
          <a:prstGeom prst="rect">
            <a:avLst/>
          </a:prstGeom>
        </p:spPr>
      </p:pic>
      <p:sp>
        <p:nvSpPr>
          <p:cNvPr id="21" name="Text 17"/>
          <p:cNvSpPr txBox="1"/>
          <p:nvPr/>
        </p:nvSpPr>
        <p:spPr>
          <a:xfrm>
            <a:off x="7680960" y="2788920"/>
            <a:ext cx="3931920" cy="365760"/>
          </a:xfrm>
          <a:prstGeom prst="rect">
            <a:avLst/>
          </a:prstGeom>
          <a:noFill/>
          <a:ln/>
        </p:spPr>
        <p:txBody>
          <a:bodyPr wrap="square" lIns="0" tIns="0" rIns="0" bIns="0" rtlCol="0" anchor="ctr"/>
          <a:lstStyle/>
          <a:p>
            <a:pPr marL="0" indent="0">
              <a:buNone/>
            </a:pPr>
            <a:r>
              <a:rPr lang="en-US" sz="1600" b="1" dirty="0">
                <a:solidFill>
                  <a:schemeClr val="tx1"/>
                </a:solidFill>
              </a:rPr>
              <a:t>Searchable lead database</a:t>
            </a:r>
            <a:endParaRPr lang="en-US" sz="1600" dirty="0"/>
          </a:p>
        </p:txBody>
      </p:sp>
      <p:sp>
        <p:nvSpPr>
          <p:cNvPr id="22" name="Text 18"/>
          <p:cNvSpPr txBox="1"/>
          <p:nvPr/>
        </p:nvSpPr>
        <p:spPr>
          <a:xfrm>
            <a:off x="7680960" y="3136392"/>
            <a:ext cx="3931920" cy="594360"/>
          </a:xfrm>
          <a:prstGeom prst="rect">
            <a:avLst/>
          </a:prstGeom>
          <a:noFill/>
          <a:ln/>
        </p:spPr>
        <p:txBody>
          <a:bodyPr wrap="square" lIns="0" tIns="0" rIns="0" bIns="0" rtlCol="0" anchor="t"/>
          <a:lstStyle/>
          <a:p>
            <a:pPr marL="0" indent="0">
              <a:buNone/>
            </a:pPr>
            <a:r>
              <a:rPr lang="en-US" sz="1300" dirty="0">
                <a:solidFill>
                  <a:schemeClr val="accent6"/>
                </a:solidFill>
              </a:rPr>
              <a:t>Filter by status and category; every lead tagged with its source</a:t>
            </a:r>
            <a:endParaRPr lang="en-US" sz="1300" dirty="0"/>
          </a:p>
        </p:txBody>
      </p:sp>
      <p:sp>
        <p:nvSpPr>
          <p:cNvPr id="23" name="Several contacts per facility circle"/>
          <p:cNvSpPr/>
          <p:nvPr/>
        </p:nvSpPr>
        <p:spPr>
          <a:xfrm>
            <a:off x="6949440" y="3886200"/>
            <a:ext cx="548640" cy="548640"/>
          </a:xfrm>
          <a:prstGeom prst="ellipse">
            <a:avLst/>
          </a:prstGeom>
          <a:solidFill>
            <a:schemeClr val="accent3"/>
          </a:solidFill>
          <a:ln/>
        </p:spPr>
        <p:txBody>
          <a:bodyPr/>
          <a:lstStyle/>
          <a:p>
            <a:endParaRPr lang="en-US"/>
          </a:p>
        </p:txBody>
      </p:sp>
      <p:pic>
        <p:nvPicPr>
          <p:cNvPr id="24" name="Several contacts per facility" descr="Several contacts per facility"/>
          <p:cNvPicPr>
            <a:picLocks noChangeAspect="1"/>
          </p:cNvPicPr>
          <p:nvPr/>
        </p:nvPicPr>
        <p:blipFill>
          <a:blip r:embed="rId5"/>
          <a:stretch>
            <a:fillRect/>
          </a:stretch>
        </p:blipFill>
        <p:spPr>
          <a:xfrm>
            <a:off x="7086600" y="4023360"/>
            <a:ext cx="274320" cy="274320"/>
          </a:xfrm>
          <a:prstGeom prst="rect">
            <a:avLst/>
          </a:prstGeom>
        </p:spPr>
      </p:pic>
      <p:sp>
        <p:nvSpPr>
          <p:cNvPr id="25" name="Text 20"/>
          <p:cNvSpPr txBox="1"/>
          <p:nvPr/>
        </p:nvSpPr>
        <p:spPr>
          <a:xfrm>
            <a:off x="7680960" y="3840480"/>
            <a:ext cx="3931920" cy="365760"/>
          </a:xfrm>
          <a:prstGeom prst="rect">
            <a:avLst/>
          </a:prstGeom>
          <a:noFill/>
          <a:ln/>
        </p:spPr>
        <p:txBody>
          <a:bodyPr wrap="square" lIns="0" tIns="0" rIns="0" bIns="0" rtlCol="0" anchor="ctr"/>
          <a:lstStyle/>
          <a:p>
            <a:pPr marL="0" indent="0">
              <a:buNone/>
            </a:pPr>
            <a:r>
              <a:rPr lang="en-US" sz="1600" b="1" dirty="0">
                <a:solidFill>
                  <a:schemeClr val="tx1"/>
                </a:solidFill>
              </a:rPr>
              <a:t>Several contacts per facility</a:t>
            </a:r>
            <a:endParaRPr lang="en-US" sz="1600" dirty="0"/>
          </a:p>
        </p:txBody>
      </p:sp>
      <p:sp>
        <p:nvSpPr>
          <p:cNvPr id="26" name="Text 21"/>
          <p:cNvSpPr txBox="1"/>
          <p:nvPr/>
        </p:nvSpPr>
        <p:spPr>
          <a:xfrm>
            <a:off x="7680960" y="4187952"/>
            <a:ext cx="3931920" cy="594360"/>
          </a:xfrm>
          <a:prstGeom prst="rect">
            <a:avLst/>
          </a:prstGeom>
          <a:noFill/>
          <a:ln/>
        </p:spPr>
        <p:txBody>
          <a:bodyPr wrap="square" lIns="0" tIns="0" rIns="0" bIns="0" rtlCol="0" anchor="t"/>
          <a:lstStyle/>
          <a:p>
            <a:pPr marL="0" indent="0">
              <a:buNone/>
            </a:pPr>
            <a:r>
              <a:rPr lang="en-US" sz="1300" dirty="0">
                <a:solidFill>
                  <a:schemeClr val="accent6"/>
                </a:solidFill>
              </a:rPr>
              <a:t>Director of Nursing, case manager, administrator, with one marked primary</a:t>
            </a:r>
            <a:endParaRPr lang="en-US" sz="1300" dirty="0"/>
          </a:p>
        </p:txBody>
      </p:sp>
      <p:sp>
        <p:nvSpPr>
          <p:cNvPr id="27" name="Save to GHL, CSV or PDF circle"/>
          <p:cNvSpPr/>
          <p:nvPr/>
        </p:nvSpPr>
        <p:spPr>
          <a:xfrm>
            <a:off x="6949440" y="4937760"/>
            <a:ext cx="548640" cy="548640"/>
          </a:xfrm>
          <a:prstGeom prst="ellipse">
            <a:avLst/>
          </a:prstGeom>
          <a:solidFill>
            <a:schemeClr val="accent3"/>
          </a:solidFill>
          <a:ln/>
        </p:spPr>
        <p:txBody>
          <a:bodyPr/>
          <a:lstStyle/>
          <a:p>
            <a:endParaRPr lang="en-US"/>
          </a:p>
        </p:txBody>
      </p:sp>
      <p:pic>
        <p:nvPicPr>
          <p:cNvPr id="28" name="Save to GHL, CSV or PDF" descr="Save to GHL, CSV or PDF"/>
          <p:cNvPicPr>
            <a:picLocks noChangeAspect="1"/>
          </p:cNvPicPr>
          <p:nvPr/>
        </p:nvPicPr>
        <p:blipFill>
          <a:blip r:embed="rId6"/>
          <a:stretch>
            <a:fillRect/>
          </a:stretch>
        </p:blipFill>
        <p:spPr>
          <a:xfrm>
            <a:off x="7086600" y="5074920"/>
            <a:ext cx="274320" cy="274320"/>
          </a:xfrm>
          <a:prstGeom prst="rect">
            <a:avLst/>
          </a:prstGeom>
        </p:spPr>
      </p:pic>
      <p:sp>
        <p:nvSpPr>
          <p:cNvPr id="29" name="Text 23"/>
          <p:cNvSpPr txBox="1"/>
          <p:nvPr/>
        </p:nvSpPr>
        <p:spPr>
          <a:xfrm>
            <a:off x="7680960" y="4892040"/>
            <a:ext cx="3931920" cy="365760"/>
          </a:xfrm>
          <a:prstGeom prst="rect">
            <a:avLst/>
          </a:prstGeom>
          <a:noFill/>
          <a:ln/>
        </p:spPr>
        <p:txBody>
          <a:bodyPr wrap="square" lIns="0" tIns="0" rIns="0" bIns="0" rtlCol="0" anchor="ctr"/>
          <a:lstStyle/>
          <a:p>
            <a:pPr marL="0" indent="0">
              <a:buNone/>
            </a:pPr>
            <a:r>
              <a:rPr lang="en-US" sz="1600" b="1" dirty="0">
                <a:solidFill>
                  <a:schemeClr val="tx1"/>
                </a:solidFill>
              </a:rPr>
              <a:t>Save to GHL, CSV or PDF</a:t>
            </a:r>
            <a:endParaRPr lang="en-US" sz="1600" dirty="0"/>
          </a:p>
        </p:txBody>
      </p:sp>
      <p:sp>
        <p:nvSpPr>
          <p:cNvPr id="30" name="Text 24"/>
          <p:cNvSpPr txBox="1"/>
          <p:nvPr/>
        </p:nvSpPr>
        <p:spPr>
          <a:xfrm>
            <a:off x="7680960" y="5239512"/>
            <a:ext cx="3931920" cy="594360"/>
          </a:xfrm>
          <a:prstGeom prst="rect">
            <a:avLst/>
          </a:prstGeom>
          <a:noFill/>
          <a:ln/>
        </p:spPr>
        <p:txBody>
          <a:bodyPr wrap="square" lIns="0" tIns="0" rIns="0" bIns="0" rtlCol="0" anchor="t"/>
          <a:lstStyle/>
          <a:p>
            <a:pPr marL="0" indent="0">
              <a:buNone/>
            </a:pPr>
            <a:r>
              <a:rPr lang="en-US" sz="1300" dirty="0">
                <a:solidFill>
                  <a:schemeClr val="accent6"/>
                </a:solidFill>
              </a:rPr>
              <a:t>Send leads to GoHighLevel or export the list in one click</a:t>
            </a:r>
            <a:endParaRPr lang="en-US" sz="13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WEEK 2  ·  OCT 1 – OCT 9</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Put the CRM online and started the link to GHL</a:t>
            </a:r>
            <a:endParaRPr lang="en-US" sz="3400" dirty="0"/>
          </a:p>
        </p:txBody>
      </p:sp>
      <p:sp>
        <p:nvSpPr>
          <p:cNvPr id="4" name="Live on Vercel"/>
          <p:cNvSpPr/>
          <p:nvPr/>
        </p:nvSpPr>
        <p:spPr>
          <a:xfrm>
            <a:off x="548640" y="1737360"/>
            <a:ext cx="5394960" cy="1234440"/>
          </a:xfrm>
          <a:prstGeom prst="roundRect">
            <a:avLst>
              <a:gd name="adj" fmla="val 8889"/>
            </a:avLst>
          </a:prstGeom>
          <a:solidFill>
            <a:schemeClr val="bg2"/>
          </a:solidFill>
          <a:ln/>
        </p:spPr>
        <p:txBody>
          <a:bodyPr/>
          <a:lstStyle/>
          <a:p>
            <a:endParaRPr lang="en-US"/>
          </a:p>
        </p:txBody>
      </p:sp>
      <p:sp>
        <p:nvSpPr>
          <p:cNvPr id="5" name="Live on Vercel circle"/>
          <p:cNvSpPr/>
          <p:nvPr/>
        </p:nvSpPr>
        <p:spPr>
          <a:xfrm>
            <a:off x="822960" y="2029968"/>
            <a:ext cx="640080" cy="640080"/>
          </a:xfrm>
          <a:prstGeom prst="ellipse">
            <a:avLst/>
          </a:prstGeom>
          <a:solidFill>
            <a:schemeClr val="accent1"/>
          </a:solidFill>
          <a:ln/>
        </p:spPr>
        <p:txBody>
          <a:bodyPr/>
          <a:lstStyle/>
          <a:p>
            <a:endParaRPr lang="en-US"/>
          </a:p>
        </p:txBody>
      </p:sp>
      <p:pic>
        <p:nvPicPr>
          <p:cNvPr id="6" name="Live on Vercel" descr="Live on Vercel"/>
          <p:cNvPicPr>
            <a:picLocks noChangeAspect="1"/>
          </p:cNvPicPr>
          <p:nvPr/>
        </p:nvPicPr>
        <p:blipFill>
          <a:blip r:embed="rId3"/>
          <a:stretch>
            <a:fillRect/>
          </a:stretch>
        </p:blipFill>
        <p:spPr>
          <a:xfrm>
            <a:off x="982980" y="2189988"/>
            <a:ext cx="320040" cy="320040"/>
          </a:xfrm>
          <a:prstGeom prst="rect">
            <a:avLst/>
          </a:prstGeom>
        </p:spPr>
      </p:pic>
      <p:sp>
        <p:nvSpPr>
          <p:cNvPr id="7" name="Text 4"/>
          <p:cNvSpPr txBox="1"/>
          <p:nvPr/>
        </p:nvSpPr>
        <p:spPr>
          <a:xfrm>
            <a:off x="1691640" y="190195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Live on Vercel</a:t>
            </a:r>
            <a:endParaRPr lang="en-US" sz="1700" dirty="0"/>
          </a:p>
        </p:txBody>
      </p:sp>
      <p:sp>
        <p:nvSpPr>
          <p:cNvPr id="8" name="Text 5"/>
          <p:cNvSpPr txBox="1"/>
          <p:nvPr/>
        </p:nvSpPr>
        <p:spPr>
          <a:xfrm>
            <a:off x="1691640" y="226771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The CRM is deployed online; staff sign in from any browser</a:t>
            </a:r>
            <a:endParaRPr lang="en-US" sz="1400" dirty="0"/>
          </a:p>
        </p:txBody>
      </p:sp>
      <p:sp>
        <p:nvSpPr>
          <p:cNvPr id="9" name="Supabase database"/>
          <p:cNvSpPr/>
          <p:nvPr/>
        </p:nvSpPr>
        <p:spPr>
          <a:xfrm>
            <a:off x="6217920" y="1737360"/>
            <a:ext cx="5394960" cy="1234440"/>
          </a:xfrm>
          <a:prstGeom prst="roundRect">
            <a:avLst>
              <a:gd name="adj" fmla="val 8889"/>
            </a:avLst>
          </a:prstGeom>
          <a:solidFill>
            <a:schemeClr val="bg2"/>
          </a:solidFill>
          <a:ln/>
        </p:spPr>
        <p:txBody>
          <a:bodyPr/>
          <a:lstStyle/>
          <a:p>
            <a:endParaRPr lang="en-US"/>
          </a:p>
        </p:txBody>
      </p:sp>
      <p:sp>
        <p:nvSpPr>
          <p:cNvPr id="10" name="Supabase database circle"/>
          <p:cNvSpPr/>
          <p:nvPr/>
        </p:nvSpPr>
        <p:spPr>
          <a:xfrm>
            <a:off x="6492240" y="2029968"/>
            <a:ext cx="640080" cy="640080"/>
          </a:xfrm>
          <a:prstGeom prst="ellipse">
            <a:avLst/>
          </a:prstGeom>
          <a:solidFill>
            <a:schemeClr val="accent2"/>
          </a:solidFill>
          <a:ln/>
        </p:spPr>
        <p:txBody>
          <a:bodyPr/>
          <a:lstStyle/>
          <a:p>
            <a:endParaRPr lang="en-US"/>
          </a:p>
        </p:txBody>
      </p:sp>
      <p:pic>
        <p:nvPicPr>
          <p:cNvPr id="11" name="Supabase database" descr="Supabase database"/>
          <p:cNvPicPr>
            <a:picLocks noChangeAspect="1"/>
          </p:cNvPicPr>
          <p:nvPr/>
        </p:nvPicPr>
        <p:blipFill>
          <a:blip r:embed="rId4"/>
          <a:stretch>
            <a:fillRect/>
          </a:stretch>
        </p:blipFill>
        <p:spPr>
          <a:xfrm>
            <a:off x="6652260" y="2189988"/>
            <a:ext cx="320040" cy="320040"/>
          </a:xfrm>
          <a:prstGeom prst="rect">
            <a:avLst/>
          </a:prstGeom>
        </p:spPr>
      </p:pic>
      <p:sp>
        <p:nvSpPr>
          <p:cNvPr id="12" name="Text 8"/>
          <p:cNvSpPr txBox="1"/>
          <p:nvPr/>
        </p:nvSpPr>
        <p:spPr>
          <a:xfrm>
            <a:off x="7360920" y="190195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Supabase database</a:t>
            </a:r>
            <a:endParaRPr lang="en-US" sz="1700" dirty="0"/>
          </a:p>
        </p:txBody>
      </p:sp>
      <p:sp>
        <p:nvSpPr>
          <p:cNvPr id="13" name="Text 9"/>
          <p:cNvSpPr txBox="1"/>
          <p:nvPr/>
        </p:nvSpPr>
        <p:spPr>
          <a:xfrm>
            <a:off x="7360920" y="226771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Leads, contacts and campaigns are saved in one secure database</a:t>
            </a:r>
            <a:endParaRPr lang="en-US" sz="1400" dirty="0"/>
          </a:p>
        </p:txBody>
      </p:sp>
      <p:sp>
        <p:nvSpPr>
          <p:cNvPr id="14" name="CRM → GHL webhook"/>
          <p:cNvSpPr/>
          <p:nvPr/>
        </p:nvSpPr>
        <p:spPr>
          <a:xfrm>
            <a:off x="548640" y="3200400"/>
            <a:ext cx="5394960" cy="1234440"/>
          </a:xfrm>
          <a:prstGeom prst="roundRect">
            <a:avLst>
              <a:gd name="adj" fmla="val 8889"/>
            </a:avLst>
          </a:prstGeom>
          <a:solidFill>
            <a:schemeClr val="bg2"/>
          </a:solidFill>
          <a:ln/>
        </p:spPr>
        <p:txBody>
          <a:bodyPr/>
          <a:lstStyle/>
          <a:p>
            <a:endParaRPr lang="en-US"/>
          </a:p>
        </p:txBody>
      </p:sp>
      <p:sp>
        <p:nvSpPr>
          <p:cNvPr id="15" name="CRM → GHL webhook circle"/>
          <p:cNvSpPr/>
          <p:nvPr/>
        </p:nvSpPr>
        <p:spPr>
          <a:xfrm>
            <a:off x="822960" y="3493008"/>
            <a:ext cx="640080" cy="640080"/>
          </a:xfrm>
          <a:prstGeom prst="ellipse">
            <a:avLst/>
          </a:prstGeom>
          <a:solidFill>
            <a:schemeClr val="accent1"/>
          </a:solidFill>
          <a:ln/>
        </p:spPr>
        <p:txBody>
          <a:bodyPr/>
          <a:lstStyle/>
          <a:p>
            <a:endParaRPr lang="en-US"/>
          </a:p>
        </p:txBody>
      </p:sp>
      <p:pic>
        <p:nvPicPr>
          <p:cNvPr id="16" name="CRM → GHL webhook" descr="CRM → GHL webhook"/>
          <p:cNvPicPr>
            <a:picLocks noChangeAspect="1"/>
          </p:cNvPicPr>
          <p:nvPr/>
        </p:nvPicPr>
        <p:blipFill>
          <a:blip r:embed="rId5"/>
          <a:stretch>
            <a:fillRect/>
          </a:stretch>
        </p:blipFill>
        <p:spPr>
          <a:xfrm>
            <a:off x="982980" y="3653028"/>
            <a:ext cx="320040" cy="320040"/>
          </a:xfrm>
          <a:prstGeom prst="rect">
            <a:avLst/>
          </a:prstGeom>
        </p:spPr>
      </p:pic>
      <p:sp>
        <p:nvSpPr>
          <p:cNvPr id="17" name="Text 12"/>
          <p:cNvSpPr txBox="1"/>
          <p:nvPr/>
        </p:nvSpPr>
        <p:spPr>
          <a:xfrm>
            <a:off x="1691640" y="336499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CRM → GHL webhook</a:t>
            </a:r>
            <a:endParaRPr lang="en-US" sz="1700" dirty="0"/>
          </a:p>
        </p:txBody>
      </p:sp>
      <p:sp>
        <p:nvSpPr>
          <p:cNvPr id="18" name="Text 13"/>
          <p:cNvSpPr txBox="1"/>
          <p:nvPr/>
        </p:nvSpPr>
        <p:spPr>
          <a:xfrm>
            <a:off x="1691640" y="373075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“Save to GHL” posts the lead to GHL, which creates the contact and tags it</a:t>
            </a:r>
            <a:endParaRPr lang="en-US" sz="1400" dirty="0"/>
          </a:p>
        </p:txBody>
      </p:sp>
      <p:sp>
        <p:nvSpPr>
          <p:cNvPr id="19" name="Campaign Writer"/>
          <p:cNvSpPr/>
          <p:nvPr/>
        </p:nvSpPr>
        <p:spPr>
          <a:xfrm>
            <a:off x="6217920" y="3200400"/>
            <a:ext cx="5394960" cy="1234440"/>
          </a:xfrm>
          <a:prstGeom prst="roundRect">
            <a:avLst>
              <a:gd name="adj" fmla="val 8889"/>
            </a:avLst>
          </a:prstGeom>
          <a:solidFill>
            <a:schemeClr val="bg2"/>
          </a:solidFill>
          <a:ln/>
        </p:spPr>
        <p:txBody>
          <a:bodyPr/>
          <a:lstStyle/>
          <a:p>
            <a:endParaRPr lang="en-US"/>
          </a:p>
        </p:txBody>
      </p:sp>
      <p:sp>
        <p:nvSpPr>
          <p:cNvPr id="20" name="Campaign Writer circle"/>
          <p:cNvSpPr/>
          <p:nvPr/>
        </p:nvSpPr>
        <p:spPr>
          <a:xfrm>
            <a:off x="6492240" y="3493008"/>
            <a:ext cx="640080" cy="640080"/>
          </a:xfrm>
          <a:prstGeom prst="ellipse">
            <a:avLst/>
          </a:prstGeom>
          <a:solidFill>
            <a:schemeClr val="accent2"/>
          </a:solidFill>
          <a:ln/>
        </p:spPr>
        <p:txBody>
          <a:bodyPr/>
          <a:lstStyle/>
          <a:p>
            <a:endParaRPr lang="en-US"/>
          </a:p>
        </p:txBody>
      </p:sp>
      <p:pic>
        <p:nvPicPr>
          <p:cNvPr id="21" name="Campaign Writer" descr="Campaign Writer"/>
          <p:cNvPicPr>
            <a:picLocks noChangeAspect="1"/>
          </p:cNvPicPr>
          <p:nvPr/>
        </p:nvPicPr>
        <p:blipFill>
          <a:blip r:embed="rId6"/>
          <a:stretch>
            <a:fillRect/>
          </a:stretch>
        </p:blipFill>
        <p:spPr>
          <a:xfrm>
            <a:off x="6652260" y="3653028"/>
            <a:ext cx="320040" cy="320040"/>
          </a:xfrm>
          <a:prstGeom prst="rect">
            <a:avLst/>
          </a:prstGeom>
        </p:spPr>
      </p:pic>
      <p:sp>
        <p:nvSpPr>
          <p:cNvPr id="22" name="Text 16"/>
          <p:cNvSpPr txBox="1"/>
          <p:nvPr/>
        </p:nvSpPr>
        <p:spPr>
          <a:xfrm>
            <a:off x="7360920" y="336499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Campaign Writer</a:t>
            </a:r>
            <a:endParaRPr lang="en-US" sz="1700" dirty="0"/>
          </a:p>
        </p:txBody>
      </p:sp>
      <p:sp>
        <p:nvSpPr>
          <p:cNvPr id="23" name="Text 17"/>
          <p:cNvSpPr txBox="1"/>
          <p:nvPr/>
        </p:nvSpPr>
        <p:spPr>
          <a:xfrm>
            <a:off x="7360920" y="373075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Drafts the subject line, body, call to action and follow-up in minutes</a:t>
            </a:r>
            <a:endParaRPr lang="en-US" sz="1400" dirty="0"/>
          </a:p>
        </p:txBody>
      </p:sp>
      <p:sp>
        <p:nvSpPr>
          <p:cNvPr id="24" name="Approval queue"/>
          <p:cNvSpPr/>
          <p:nvPr/>
        </p:nvSpPr>
        <p:spPr>
          <a:xfrm>
            <a:off x="548640" y="4663440"/>
            <a:ext cx="5394960" cy="1234440"/>
          </a:xfrm>
          <a:prstGeom prst="roundRect">
            <a:avLst>
              <a:gd name="adj" fmla="val 8889"/>
            </a:avLst>
          </a:prstGeom>
          <a:solidFill>
            <a:schemeClr val="bg2"/>
          </a:solidFill>
          <a:ln/>
        </p:spPr>
        <p:txBody>
          <a:bodyPr/>
          <a:lstStyle/>
          <a:p>
            <a:endParaRPr lang="en-US"/>
          </a:p>
        </p:txBody>
      </p:sp>
      <p:sp>
        <p:nvSpPr>
          <p:cNvPr id="25" name="Approval queue circle"/>
          <p:cNvSpPr/>
          <p:nvPr/>
        </p:nvSpPr>
        <p:spPr>
          <a:xfrm>
            <a:off x="822960" y="4956048"/>
            <a:ext cx="640080" cy="640080"/>
          </a:xfrm>
          <a:prstGeom prst="ellipse">
            <a:avLst/>
          </a:prstGeom>
          <a:solidFill>
            <a:schemeClr val="accent1"/>
          </a:solidFill>
          <a:ln/>
        </p:spPr>
        <p:txBody>
          <a:bodyPr/>
          <a:lstStyle/>
          <a:p>
            <a:endParaRPr lang="en-US"/>
          </a:p>
        </p:txBody>
      </p:sp>
      <p:pic>
        <p:nvPicPr>
          <p:cNvPr id="26" name="Approval queue" descr="Approval queue"/>
          <p:cNvPicPr>
            <a:picLocks noChangeAspect="1"/>
          </p:cNvPicPr>
          <p:nvPr/>
        </p:nvPicPr>
        <p:blipFill>
          <a:blip r:embed="rId7"/>
          <a:stretch>
            <a:fillRect/>
          </a:stretch>
        </p:blipFill>
        <p:spPr>
          <a:xfrm>
            <a:off x="982980" y="5116068"/>
            <a:ext cx="320040" cy="320040"/>
          </a:xfrm>
          <a:prstGeom prst="rect">
            <a:avLst/>
          </a:prstGeom>
        </p:spPr>
      </p:pic>
      <p:sp>
        <p:nvSpPr>
          <p:cNvPr id="27" name="Text 20"/>
          <p:cNvSpPr txBox="1"/>
          <p:nvPr/>
        </p:nvSpPr>
        <p:spPr>
          <a:xfrm>
            <a:off x="1691640" y="482803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Approval queue</a:t>
            </a:r>
            <a:endParaRPr lang="en-US" sz="1700" dirty="0"/>
          </a:p>
        </p:txBody>
      </p:sp>
      <p:sp>
        <p:nvSpPr>
          <p:cNvPr id="28" name="Text 21"/>
          <p:cNvSpPr txBox="1"/>
          <p:nvPr/>
        </p:nvSpPr>
        <p:spPr>
          <a:xfrm>
            <a:off x="1691640" y="519379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Every campaign is approved, rejected or sent back for edits before it goes out</a:t>
            </a:r>
            <a:endParaRPr lang="en-US" sz="1400" dirty="0"/>
          </a:p>
        </p:txBody>
      </p:sp>
      <p:sp>
        <p:nvSpPr>
          <p:cNvPr id="29" name="Email analytics screen"/>
          <p:cNvSpPr/>
          <p:nvPr/>
        </p:nvSpPr>
        <p:spPr>
          <a:xfrm>
            <a:off x="6217920" y="4663440"/>
            <a:ext cx="5394960" cy="1234440"/>
          </a:xfrm>
          <a:prstGeom prst="roundRect">
            <a:avLst>
              <a:gd name="adj" fmla="val 8889"/>
            </a:avLst>
          </a:prstGeom>
          <a:solidFill>
            <a:schemeClr val="bg2"/>
          </a:solidFill>
          <a:ln/>
        </p:spPr>
        <p:txBody>
          <a:bodyPr/>
          <a:lstStyle/>
          <a:p>
            <a:endParaRPr lang="en-US"/>
          </a:p>
        </p:txBody>
      </p:sp>
      <p:sp>
        <p:nvSpPr>
          <p:cNvPr id="30" name="Email analytics screen circle"/>
          <p:cNvSpPr/>
          <p:nvPr/>
        </p:nvSpPr>
        <p:spPr>
          <a:xfrm>
            <a:off x="6492240" y="4956048"/>
            <a:ext cx="640080" cy="640080"/>
          </a:xfrm>
          <a:prstGeom prst="ellipse">
            <a:avLst/>
          </a:prstGeom>
          <a:solidFill>
            <a:schemeClr val="accent2"/>
          </a:solidFill>
          <a:ln/>
        </p:spPr>
        <p:txBody>
          <a:bodyPr/>
          <a:lstStyle/>
          <a:p>
            <a:endParaRPr lang="en-US"/>
          </a:p>
        </p:txBody>
      </p:sp>
      <p:pic>
        <p:nvPicPr>
          <p:cNvPr id="31" name="Email analytics screen" descr="Email analytics screen"/>
          <p:cNvPicPr>
            <a:picLocks noChangeAspect="1"/>
          </p:cNvPicPr>
          <p:nvPr/>
        </p:nvPicPr>
        <p:blipFill>
          <a:blip r:embed="rId8"/>
          <a:stretch>
            <a:fillRect/>
          </a:stretch>
        </p:blipFill>
        <p:spPr>
          <a:xfrm>
            <a:off x="6652260" y="5116068"/>
            <a:ext cx="320040" cy="320040"/>
          </a:xfrm>
          <a:prstGeom prst="rect">
            <a:avLst/>
          </a:prstGeom>
        </p:spPr>
      </p:pic>
      <p:sp>
        <p:nvSpPr>
          <p:cNvPr id="32" name="Text 24"/>
          <p:cNvSpPr txBox="1"/>
          <p:nvPr/>
        </p:nvSpPr>
        <p:spPr>
          <a:xfrm>
            <a:off x="7360920" y="482803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Email analytics screen</a:t>
            </a:r>
            <a:endParaRPr lang="en-US" sz="1700" dirty="0"/>
          </a:p>
        </p:txBody>
      </p:sp>
      <p:sp>
        <p:nvSpPr>
          <p:cNvPr id="33" name="Text 25"/>
          <p:cNvSpPr txBox="1"/>
          <p:nvPr/>
        </p:nvSpPr>
        <p:spPr>
          <a:xfrm>
            <a:off x="7360920" y="519379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Built and ready; it will show real numbers once sending is connected</a:t>
            </a:r>
            <a:endParaRPr lang="en-US" sz="14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WEEK 3  ·  OCT 10 – OCT 16</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Wrote 8 referral emails, planned over 27 days</a:t>
            </a:r>
            <a:endParaRPr lang="en-US" sz="3400" dirty="0"/>
          </a:p>
        </p:txBody>
      </p:sp>
      <p:sp>
        <p:nvSpPr>
          <p:cNvPr id="4" name="timeline"/>
          <p:cNvSpPr/>
          <p:nvPr/>
        </p:nvSpPr>
        <p:spPr>
          <a:xfrm>
            <a:off x="1143000" y="2423160"/>
            <a:ext cx="9765792" cy="0"/>
          </a:xfrm>
          <a:prstGeom prst="line">
            <a:avLst/>
          </a:prstGeom>
          <a:noFill/>
          <a:ln w="38100">
            <a:solidFill>
              <a:schemeClr val="accent3"/>
            </a:solidFill>
            <a:prstDash val="solid"/>
          </a:ln>
        </p:spPr>
        <p:txBody>
          <a:bodyPr/>
          <a:lstStyle/>
          <a:p>
            <a:endParaRPr lang="en-US"/>
          </a:p>
        </p:txBody>
      </p:sp>
      <p:sp>
        <p:nvSpPr>
          <p:cNvPr id="5" name="day 0"/>
          <p:cNvSpPr/>
          <p:nvPr/>
        </p:nvSpPr>
        <p:spPr>
          <a:xfrm>
            <a:off x="868680" y="21488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6" name="Text 4"/>
          <p:cNvSpPr txBox="1"/>
          <p:nvPr/>
        </p:nvSpPr>
        <p:spPr>
          <a:xfrm>
            <a:off x="868680" y="214884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0</a:t>
            </a:r>
            <a:endParaRPr lang="en-US" sz="1400" dirty="0"/>
          </a:p>
        </p:txBody>
      </p:sp>
      <p:sp>
        <p:nvSpPr>
          <p:cNvPr id="7" name="Text 5"/>
          <p:cNvSpPr txBox="1"/>
          <p:nvPr/>
        </p:nvSpPr>
        <p:spPr>
          <a:xfrm>
            <a:off x="411480" y="1783080"/>
            <a:ext cx="1463040" cy="274320"/>
          </a:xfrm>
          <a:prstGeom prst="rect">
            <a:avLst/>
          </a:prstGeom>
          <a:noFill/>
          <a:ln/>
        </p:spPr>
        <p:txBody>
          <a:bodyPr wrap="square" lIns="0" tIns="0" rIns="0" bIns="0" rtlCol="0" anchor="ctr"/>
          <a:lstStyle/>
          <a:p>
            <a:pPr marL="0" indent="0" algn="ctr">
              <a:buNone/>
            </a:pPr>
            <a:r>
              <a:rPr lang="en-US" sz="1100" b="1" dirty="0">
                <a:solidFill>
                  <a:schemeClr val="accent2"/>
                </a:solidFill>
              </a:rPr>
              <a:t>DAY 0</a:t>
            </a:r>
            <a:endParaRPr lang="en-US" sz="1100" dirty="0"/>
          </a:p>
        </p:txBody>
      </p:sp>
      <p:sp>
        <p:nvSpPr>
          <p:cNvPr id="8" name="Text 6"/>
          <p:cNvSpPr txBox="1"/>
          <p:nvPr/>
        </p:nvSpPr>
        <p:spPr>
          <a:xfrm>
            <a:off x="388620" y="2834640"/>
            <a:ext cx="1508760" cy="320040"/>
          </a:xfrm>
          <a:prstGeom prst="rect">
            <a:avLst/>
          </a:prstGeom>
          <a:noFill/>
          <a:ln/>
        </p:spPr>
        <p:txBody>
          <a:bodyPr wrap="square" lIns="0" tIns="0" rIns="0" bIns="0" rtlCol="0" anchor="ctr"/>
          <a:lstStyle/>
          <a:p>
            <a:pPr marL="0" indent="0" algn="ctr">
              <a:buNone/>
            </a:pPr>
            <a:r>
              <a:rPr lang="en-US" sz="1500" b="1" dirty="0">
                <a:solidFill>
                  <a:schemeClr val="tx1"/>
                </a:solidFill>
              </a:rPr>
              <a:t>Introduction</a:t>
            </a:r>
            <a:endParaRPr lang="en-US" sz="1500" dirty="0"/>
          </a:p>
        </p:txBody>
      </p:sp>
      <p:sp>
        <p:nvSpPr>
          <p:cNvPr id="9" name="Text 7"/>
          <p:cNvSpPr txBox="1"/>
          <p:nvPr/>
        </p:nvSpPr>
        <p:spPr>
          <a:xfrm>
            <a:off x="388620" y="3154680"/>
            <a:ext cx="1508760" cy="548640"/>
          </a:xfrm>
          <a:prstGeom prst="rect">
            <a:avLst/>
          </a:prstGeom>
          <a:noFill/>
          <a:ln/>
        </p:spPr>
        <p:txBody>
          <a:bodyPr wrap="square" lIns="0" tIns="0" rIns="0" bIns="0" rtlCol="0" anchor="t"/>
          <a:lstStyle/>
          <a:p>
            <a:pPr marL="0" indent="0" algn="ctr">
              <a:buNone/>
            </a:pPr>
            <a:r>
              <a:rPr lang="en-US" sz="1200" dirty="0">
                <a:solidFill>
                  <a:schemeClr val="accent6"/>
                </a:solidFill>
              </a:rPr>
              <a:t>A neighbor in Valley Village</a:t>
            </a:r>
            <a:endParaRPr lang="en-US" sz="1200" dirty="0"/>
          </a:p>
        </p:txBody>
      </p:sp>
      <p:sp>
        <p:nvSpPr>
          <p:cNvPr id="10" name="day 2"/>
          <p:cNvSpPr/>
          <p:nvPr/>
        </p:nvSpPr>
        <p:spPr>
          <a:xfrm>
            <a:off x="2496312" y="21488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11" name="Text 9"/>
          <p:cNvSpPr txBox="1"/>
          <p:nvPr/>
        </p:nvSpPr>
        <p:spPr>
          <a:xfrm>
            <a:off x="2496312" y="214884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2039112" y="1783080"/>
            <a:ext cx="1463040" cy="274320"/>
          </a:xfrm>
          <a:prstGeom prst="rect">
            <a:avLst/>
          </a:prstGeom>
          <a:noFill/>
          <a:ln/>
        </p:spPr>
        <p:txBody>
          <a:bodyPr wrap="square" lIns="0" tIns="0" rIns="0" bIns="0" rtlCol="0" anchor="ctr"/>
          <a:lstStyle/>
          <a:p>
            <a:pPr marL="0" indent="0" algn="ctr">
              <a:buNone/>
            </a:pPr>
            <a:r>
              <a:rPr lang="en-US" sz="1100" b="1" dirty="0">
                <a:solidFill>
                  <a:schemeClr val="accent2"/>
                </a:solidFill>
              </a:rPr>
              <a:t>DAY 2</a:t>
            </a:r>
            <a:endParaRPr lang="en-US" sz="1100" dirty="0"/>
          </a:p>
        </p:txBody>
      </p:sp>
      <p:sp>
        <p:nvSpPr>
          <p:cNvPr id="13" name="Text 11"/>
          <p:cNvSpPr txBox="1"/>
          <p:nvPr/>
        </p:nvSpPr>
        <p:spPr>
          <a:xfrm>
            <a:off x="2016252" y="2834640"/>
            <a:ext cx="1508760" cy="320040"/>
          </a:xfrm>
          <a:prstGeom prst="rect">
            <a:avLst/>
          </a:prstGeom>
          <a:noFill/>
          <a:ln/>
        </p:spPr>
        <p:txBody>
          <a:bodyPr wrap="square" lIns="0" tIns="0" rIns="0" bIns="0" rtlCol="0" anchor="ctr"/>
          <a:lstStyle/>
          <a:p>
            <a:pPr marL="0" indent="0" algn="ctr">
              <a:buNone/>
            </a:pPr>
            <a:r>
              <a:rPr lang="en-US" sz="1500" b="1" dirty="0">
                <a:solidFill>
                  <a:schemeClr val="tx1"/>
                </a:solidFill>
              </a:rPr>
              <a:t>Value first</a:t>
            </a:r>
            <a:endParaRPr lang="en-US" sz="1500" dirty="0"/>
          </a:p>
        </p:txBody>
      </p:sp>
      <p:sp>
        <p:nvSpPr>
          <p:cNvPr id="14" name="Text 12"/>
          <p:cNvSpPr txBox="1"/>
          <p:nvPr/>
        </p:nvSpPr>
        <p:spPr>
          <a:xfrm>
            <a:off x="2016252" y="3154680"/>
            <a:ext cx="1508760" cy="548640"/>
          </a:xfrm>
          <a:prstGeom prst="rect">
            <a:avLst/>
          </a:prstGeom>
          <a:noFill/>
          <a:ln/>
        </p:spPr>
        <p:txBody>
          <a:bodyPr wrap="square" lIns="0" tIns="0" rIns="0" bIns="0" rtlCol="0" anchor="t"/>
          <a:lstStyle/>
          <a:p>
            <a:pPr marL="0" indent="0" algn="ctr">
              <a:buNone/>
            </a:pPr>
            <a:r>
              <a:rPr lang="en-US" sz="1200" dirty="0">
                <a:solidFill>
                  <a:schemeClr val="accent6"/>
                </a:solidFill>
              </a:rPr>
              <a:t>One-page discharge guide</a:t>
            </a:r>
            <a:endParaRPr lang="en-US" sz="1200" dirty="0"/>
          </a:p>
        </p:txBody>
      </p:sp>
      <p:sp>
        <p:nvSpPr>
          <p:cNvPr id="15" name="day 5"/>
          <p:cNvSpPr/>
          <p:nvPr/>
        </p:nvSpPr>
        <p:spPr>
          <a:xfrm>
            <a:off x="4123944" y="21488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16" name="Text 14"/>
          <p:cNvSpPr txBox="1"/>
          <p:nvPr/>
        </p:nvSpPr>
        <p:spPr>
          <a:xfrm>
            <a:off x="4123944" y="214884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7" name="Text 15"/>
          <p:cNvSpPr txBox="1"/>
          <p:nvPr/>
        </p:nvSpPr>
        <p:spPr>
          <a:xfrm>
            <a:off x="3666744" y="1783080"/>
            <a:ext cx="1463040" cy="274320"/>
          </a:xfrm>
          <a:prstGeom prst="rect">
            <a:avLst/>
          </a:prstGeom>
          <a:noFill/>
          <a:ln/>
        </p:spPr>
        <p:txBody>
          <a:bodyPr wrap="square" lIns="0" tIns="0" rIns="0" bIns="0" rtlCol="0" anchor="ctr"/>
          <a:lstStyle/>
          <a:p>
            <a:pPr marL="0" indent="0" algn="ctr">
              <a:buNone/>
            </a:pPr>
            <a:r>
              <a:rPr lang="en-US" sz="1100" b="1" dirty="0">
                <a:solidFill>
                  <a:schemeClr val="accent2"/>
                </a:solidFill>
              </a:rPr>
              <a:t>DAY 5</a:t>
            </a:r>
            <a:endParaRPr lang="en-US" sz="1100" dirty="0"/>
          </a:p>
        </p:txBody>
      </p:sp>
      <p:sp>
        <p:nvSpPr>
          <p:cNvPr id="18" name="Text 16"/>
          <p:cNvSpPr txBox="1"/>
          <p:nvPr/>
        </p:nvSpPr>
        <p:spPr>
          <a:xfrm>
            <a:off x="3643884" y="2834640"/>
            <a:ext cx="1508760" cy="320040"/>
          </a:xfrm>
          <a:prstGeom prst="rect">
            <a:avLst/>
          </a:prstGeom>
          <a:noFill/>
          <a:ln/>
        </p:spPr>
        <p:txBody>
          <a:bodyPr wrap="square" lIns="0" tIns="0" rIns="0" bIns="0" rtlCol="0" anchor="ctr"/>
          <a:lstStyle/>
          <a:p>
            <a:pPr marL="0" indent="0" algn="ctr">
              <a:buNone/>
            </a:pPr>
            <a:r>
              <a:rPr lang="en-US" sz="1500" b="1" dirty="0">
                <a:solidFill>
                  <a:schemeClr val="tx1"/>
                </a:solidFill>
              </a:rPr>
              <a:t>Soft bridge</a:t>
            </a:r>
            <a:endParaRPr lang="en-US" sz="1500" dirty="0"/>
          </a:p>
        </p:txBody>
      </p:sp>
      <p:sp>
        <p:nvSpPr>
          <p:cNvPr id="19" name="Text 17"/>
          <p:cNvSpPr txBox="1"/>
          <p:nvPr/>
        </p:nvSpPr>
        <p:spPr>
          <a:xfrm>
            <a:off x="3643884" y="3154680"/>
            <a:ext cx="1508760" cy="548640"/>
          </a:xfrm>
          <a:prstGeom prst="rect">
            <a:avLst/>
          </a:prstGeom>
          <a:noFill/>
          <a:ln/>
        </p:spPr>
        <p:txBody>
          <a:bodyPr wrap="square" lIns="0" tIns="0" rIns="0" bIns="0" rtlCol="0" anchor="t"/>
          <a:lstStyle/>
          <a:p>
            <a:pPr marL="0" indent="0" algn="ctr">
              <a:buNone/>
            </a:pPr>
            <a:r>
              <a:rPr lang="en-US" sz="1200" dirty="0">
                <a:solidFill>
                  <a:schemeClr val="accent6"/>
                </a:solidFill>
              </a:rPr>
              <a:t>6 beds, 24-hr nursing, 3:1</a:t>
            </a:r>
            <a:endParaRPr lang="en-US" sz="1200" dirty="0"/>
          </a:p>
        </p:txBody>
      </p:sp>
      <p:sp>
        <p:nvSpPr>
          <p:cNvPr id="20" name="day 8"/>
          <p:cNvSpPr/>
          <p:nvPr/>
        </p:nvSpPr>
        <p:spPr>
          <a:xfrm>
            <a:off x="5751576" y="21488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21" name="Text 19"/>
          <p:cNvSpPr txBox="1"/>
          <p:nvPr/>
        </p:nvSpPr>
        <p:spPr>
          <a:xfrm>
            <a:off x="5751576" y="214884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8</a:t>
            </a:r>
            <a:endParaRPr lang="en-US" sz="1400" dirty="0"/>
          </a:p>
        </p:txBody>
      </p:sp>
      <p:sp>
        <p:nvSpPr>
          <p:cNvPr id="22" name="Text 20"/>
          <p:cNvSpPr txBox="1"/>
          <p:nvPr/>
        </p:nvSpPr>
        <p:spPr>
          <a:xfrm>
            <a:off x="5294376" y="1783080"/>
            <a:ext cx="1463040" cy="274320"/>
          </a:xfrm>
          <a:prstGeom prst="rect">
            <a:avLst/>
          </a:prstGeom>
          <a:noFill/>
          <a:ln/>
        </p:spPr>
        <p:txBody>
          <a:bodyPr wrap="square" lIns="0" tIns="0" rIns="0" bIns="0" rtlCol="0" anchor="ctr"/>
          <a:lstStyle/>
          <a:p>
            <a:pPr marL="0" indent="0" algn="ctr">
              <a:buNone/>
            </a:pPr>
            <a:r>
              <a:rPr lang="en-US" sz="1100" b="1" dirty="0">
                <a:solidFill>
                  <a:schemeClr val="accent2"/>
                </a:solidFill>
              </a:rPr>
              <a:t>DAY 8</a:t>
            </a:r>
            <a:endParaRPr lang="en-US" sz="1100" dirty="0"/>
          </a:p>
        </p:txBody>
      </p:sp>
      <p:sp>
        <p:nvSpPr>
          <p:cNvPr id="23" name="Text 21"/>
          <p:cNvSpPr txBox="1"/>
          <p:nvPr/>
        </p:nvSpPr>
        <p:spPr>
          <a:xfrm>
            <a:off x="5271516" y="2834640"/>
            <a:ext cx="1508760" cy="320040"/>
          </a:xfrm>
          <a:prstGeom prst="rect">
            <a:avLst/>
          </a:prstGeom>
          <a:noFill/>
          <a:ln/>
        </p:spPr>
        <p:txBody>
          <a:bodyPr wrap="square" lIns="0" tIns="0" rIns="0" bIns="0" rtlCol="0" anchor="ctr"/>
          <a:lstStyle/>
          <a:p>
            <a:pPr marL="0" indent="0" algn="ctr">
              <a:buNone/>
            </a:pPr>
            <a:r>
              <a:rPr lang="en-US" sz="1500" b="1" dirty="0">
                <a:solidFill>
                  <a:schemeClr val="tx1"/>
                </a:solidFill>
              </a:rPr>
              <a:t>Direct ask</a:t>
            </a:r>
            <a:endParaRPr lang="en-US" sz="1500" dirty="0"/>
          </a:p>
        </p:txBody>
      </p:sp>
      <p:sp>
        <p:nvSpPr>
          <p:cNvPr id="24" name="Text 22"/>
          <p:cNvSpPr txBox="1"/>
          <p:nvPr/>
        </p:nvSpPr>
        <p:spPr>
          <a:xfrm>
            <a:off x="5271516" y="3154680"/>
            <a:ext cx="1508760" cy="548640"/>
          </a:xfrm>
          <a:prstGeom prst="rect">
            <a:avLst/>
          </a:prstGeom>
          <a:noFill/>
          <a:ln/>
        </p:spPr>
        <p:txBody>
          <a:bodyPr wrap="square" lIns="0" tIns="0" rIns="0" bIns="0" rtlCol="0" anchor="t"/>
          <a:lstStyle/>
          <a:p>
            <a:pPr marL="0" indent="0" algn="ctr">
              <a:buNone/>
            </a:pPr>
            <a:r>
              <a:rPr lang="en-US" sz="1200" dirty="0">
                <a:solidFill>
                  <a:schemeClr val="accent6"/>
                </a:solidFill>
              </a:rPr>
              <a:t>20-minute tour invite</a:t>
            </a:r>
            <a:endParaRPr lang="en-US" sz="1200" dirty="0"/>
          </a:p>
        </p:txBody>
      </p:sp>
      <p:sp>
        <p:nvSpPr>
          <p:cNvPr id="25" name="day 12"/>
          <p:cNvSpPr/>
          <p:nvPr/>
        </p:nvSpPr>
        <p:spPr>
          <a:xfrm>
            <a:off x="7379208" y="21488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26" name="Text 24"/>
          <p:cNvSpPr txBox="1"/>
          <p:nvPr/>
        </p:nvSpPr>
        <p:spPr>
          <a:xfrm>
            <a:off x="7379208" y="214884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12</a:t>
            </a:r>
            <a:endParaRPr lang="en-US" sz="1400" dirty="0"/>
          </a:p>
        </p:txBody>
      </p:sp>
      <p:sp>
        <p:nvSpPr>
          <p:cNvPr id="27" name="Text 25"/>
          <p:cNvSpPr txBox="1"/>
          <p:nvPr/>
        </p:nvSpPr>
        <p:spPr>
          <a:xfrm>
            <a:off x="6922008" y="1783080"/>
            <a:ext cx="1463040" cy="274320"/>
          </a:xfrm>
          <a:prstGeom prst="rect">
            <a:avLst/>
          </a:prstGeom>
          <a:noFill/>
          <a:ln/>
        </p:spPr>
        <p:txBody>
          <a:bodyPr wrap="square" lIns="0" tIns="0" rIns="0" bIns="0" rtlCol="0" anchor="ctr"/>
          <a:lstStyle/>
          <a:p>
            <a:pPr marL="0" indent="0" algn="ctr">
              <a:buNone/>
            </a:pPr>
            <a:r>
              <a:rPr lang="en-US" sz="1100" b="1" dirty="0">
                <a:solidFill>
                  <a:schemeClr val="accent2"/>
                </a:solidFill>
              </a:rPr>
              <a:t>DAY 12</a:t>
            </a:r>
            <a:endParaRPr lang="en-US" sz="1100" dirty="0"/>
          </a:p>
        </p:txBody>
      </p:sp>
      <p:sp>
        <p:nvSpPr>
          <p:cNvPr id="28" name="Text 26"/>
          <p:cNvSpPr txBox="1"/>
          <p:nvPr/>
        </p:nvSpPr>
        <p:spPr>
          <a:xfrm>
            <a:off x="6899148" y="2834640"/>
            <a:ext cx="1508760" cy="320040"/>
          </a:xfrm>
          <a:prstGeom prst="rect">
            <a:avLst/>
          </a:prstGeom>
          <a:noFill/>
          <a:ln/>
        </p:spPr>
        <p:txBody>
          <a:bodyPr wrap="square" lIns="0" tIns="0" rIns="0" bIns="0" rtlCol="0" anchor="ctr"/>
          <a:lstStyle/>
          <a:p>
            <a:pPr marL="0" indent="0" algn="ctr">
              <a:buNone/>
            </a:pPr>
            <a:r>
              <a:rPr lang="en-US" sz="1500" b="1" dirty="0">
                <a:solidFill>
                  <a:schemeClr val="tx1"/>
                </a:solidFill>
              </a:rPr>
              <a:t>Practical tip</a:t>
            </a:r>
            <a:endParaRPr lang="en-US" sz="1500" dirty="0"/>
          </a:p>
        </p:txBody>
      </p:sp>
      <p:sp>
        <p:nvSpPr>
          <p:cNvPr id="29" name="Text 27"/>
          <p:cNvSpPr txBox="1"/>
          <p:nvPr/>
        </p:nvSpPr>
        <p:spPr>
          <a:xfrm>
            <a:off x="6899148" y="3154680"/>
            <a:ext cx="1508760" cy="548640"/>
          </a:xfrm>
          <a:prstGeom prst="rect">
            <a:avLst/>
          </a:prstGeom>
          <a:noFill/>
          <a:ln/>
        </p:spPr>
        <p:txBody>
          <a:bodyPr wrap="square" lIns="0" tIns="0" rIns="0" bIns="0" rtlCol="0" anchor="t"/>
          <a:lstStyle/>
          <a:p>
            <a:pPr marL="0" indent="0" algn="ctr">
              <a:buNone/>
            </a:pPr>
            <a:r>
              <a:rPr lang="en-US" sz="1200" dirty="0">
                <a:solidFill>
                  <a:schemeClr val="accent6"/>
                </a:solidFill>
              </a:rPr>
              <a:t>What speeds up placement</a:t>
            </a:r>
            <a:endParaRPr lang="en-US" sz="1200" dirty="0"/>
          </a:p>
        </p:txBody>
      </p:sp>
      <p:sp>
        <p:nvSpPr>
          <p:cNvPr id="30" name="day 20"/>
          <p:cNvSpPr/>
          <p:nvPr/>
        </p:nvSpPr>
        <p:spPr>
          <a:xfrm>
            <a:off x="9006840" y="21488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31" name="Text 29"/>
          <p:cNvSpPr txBox="1"/>
          <p:nvPr/>
        </p:nvSpPr>
        <p:spPr>
          <a:xfrm>
            <a:off x="9006840" y="214884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20</a:t>
            </a:r>
            <a:endParaRPr lang="en-US" sz="1400" dirty="0"/>
          </a:p>
        </p:txBody>
      </p:sp>
      <p:sp>
        <p:nvSpPr>
          <p:cNvPr id="32" name="Text 30"/>
          <p:cNvSpPr txBox="1"/>
          <p:nvPr/>
        </p:nvSpPr>
        <p:spPr>
          <a:xfrm>
            <a:off x="8549640" y="1783080"/>
            <a:ext cx="1463040" cy="274320"/>
          </a:xfrm>
          <a:prstGeom prst="rect">
            <a:avLst/>
          </a:prstGeom>
          <a:noFill/>
          <a:ln/>
        </p:spPr>
        <p:txBody>
          <a:bodyPr wrap="square" lIns="0" tIns="0" rIns="0" bIns="0" rtlCol="0" anchor="ctr"/>
          <a:lstStyle/>
          <a:p>
            <a:pPr marL="0" indent="0" algn="ctr">
              <a:buNone/>
            </a:pPr>
            <a:r>
              <a:rPr lang="en-US" sz="1100" b="1" dirty="0">
                <a:solidFill>
                  <a:schemeClr val="accent2"/>
                </a:solidFill>
              </a:rPr>
              <a:t>DAY 20</a:t>
            </a:r>
            <a:endParaRPr lang="en-US" sz="1100" dirty="0"/>
          </a:p>
        </p:txBody>
      </p:sp>
      <p:sp>
        <p:nvSpPr>
          <p:cNvPr id="33" name="Text 31"/>
          <p:cNvSpPr txBox="1"/>
          <p:nvPr/>
        </p:nvSpPr>
        <p:spPr>
          <a:xfrm>
            <a:off x="8526780" y="2834640"/>
            <a:ext cx="1508760" cy="320040"/>
          </a:xfrm>
          <a:prstGeom prst="rect">
            <a:avLst/>
          </a:prstGeom>
          <a:noFill/>
          <a:ln/>
        </p:spPr>
        <p:txBody>
          <a:bodyPr wrap="square" lIns="0" tIns="0" rIns="0" bIns="0" rtlCol="0" anchor="ctr"/>
          <a:lstStyle/>
          <a:p>
            <a:pPr marL="0" indent="0" algn="ctr">
              <a:buNone/>
            </a:pPr>
            <a:r>
              <a:rPr lang="en-US" sz="1500" b="1" dirty="0">
                <a:solidFill>
                  <a:schemeClr val="tx1"/>
                </a:solidFill>
              </a:rPr>
              <a:t>In-service</a:t>
            </a:r>
            <a:endParaRPr lang="en-US" sz="1500" dirty="0"/>
          </a:p>
        </p:txBody>
      </p:sp>
      <p:sp>
        <p:nvSpPr>
          <p:cNvPr id="34" name="Text 32"/>
          <p:cNvSpPr txBox="1"/>
          <p:nvPr/>
        </p:nvSpPr>
        <p:spPr>
          <a:xfrm>
            <a:off x="8526780" y="3154680"/>
            <a:ext cx="1508760" cy="548640"/>
          </a:xfrm>
          <a:prstGeom prst="rect">
            <a:avLst/>
          </a:prstGeom>
          <a:noFill/>
          <a:ln/>
        </p:spPr>
        <p:txBody>
          <a:bodyPr wrap="square" lIns="0" tIns="0" rIns="0" bIns="0" rtlCol="0" anchor="t"/>
          <a:lstStyle/>
          <a:p>
            <a:pPr marL="0" indent="0" algn="ctr">
              <a:buNone/>
            </a:pPr>
            <a:r>
              <a:rPr lang="en-US" sz="1200" dirty="0">
                <a:solidFill>
                  <a:schemeClr val="accent6"/>
                </a:solidFill>
              </a:rPr>
              <a:t>Lunch session for the team*</a:t>
            </a:r>
            <a:endParaRPr lang="en-US" sz="1200" dirty="0"/>
          </a:p>
        </p:txBody>
      </p:sp>
      <p:sp>
        <p:nvSpPr>
          <p:cNvPr id="35" name="day 27"/>
          <p:cNvSpPr/>
          <p:nvPr/>
        </p:nvSpPr>
        <p:spPr>
          <a:xfrm>
            <a:off x="10634472" y="21488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36" name="Text 34"/>
          <p:cNvSpPr txBox="1"/>
          <p:nvPr/>
        </p:nvSpPr>
        <p:spPr>
          <a:xfrm>
            <a:off x="10634472" y="214884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27</a:t>
            </a:r>
            <a:endParaRPr lang="en-US" sz="1400" dirty="0"/>
          </a:p>
        </p:txBody>
      </p:sp>
      <p:sp>
        <p:nvSpPr>
          <p:cNvPr id="37" name="Text 35"/>
          <p:cNvSpPr txBox="1"/>
          <p:nvPr/>
        </p:nvSpPr>
        <p:spPr>
          <a:xfrm>
            <a:off x="10177272" y="1783080"/>
            <a:ext cx="1463040" cy="274320"/>
          </a:xfrm>
          <a:prstGeom prst="rect">
            <a:avLst/>
          </a:prstGeom>
          <a:noFill/>
          <a:ln/>
        </p:spPr>
        <p:txBody>
          <a:bodyPr wrap="square" lIns="0" tIns="0" rIns="0" bIns="0" rtlCol="0" anchor="ctr"/>
          <a:lstStyle/>
          <a:p>
            <a:pPr marL="0" indent="0" algn="ctr">
              <a:buNone/>
            </a:pPr>
            <a:r>
              <a:rPr lang="en-US" sz="1100" b="1" dirty="0">
                <a:solidFill>
                  <a:schemeClr val="accent2"/>
                </a:solidFill>
              </a:rPr>
              <a:t>DAY 27</a:t>
            </a:r>
            <a:endParaRPr lang="en-US" sz="1100" dirty="0"/>
          </a:p>
        </p:txBody>
      </p:sp>
      <p:sp>
        <p:nvSpPr>
          <p:cNvPr id="38" name="Text 36"/>
          <p:cNvSpPr txBox="1"/>
          <p:nvPr/>
        </p:nvSpPr>
        <p:spPr>
          <a:xfrm>
            <a:off x="10154412" y="2834640"/>
            <a:ext cx="1508760" cy="320040"/>
          </a:xfrm>
          <a:prstGeom prst="rect">
            <a:avLst/>
          </a:prstGeom>
          <a:noFill/>
          <a:ln/>
        </p:spPr>
        <p:txBody>
          <a:bodyPr wrap="square" lIns="0" tIns="0" rIns="0" bIns="0" rtlCol="0" anchor="ctr"/>
          <a:lstStyle/>
          <a:p>
            <a:pPr marL="0" indent="0" algn="ctr">
              <a:buNone/>
            </a:pPr>
            <a:r>
              <a:rPr lang="en-US" sz="1500" b="1" dirty="0">
                <a:solidFill>
                  <a:schemeClr val="tx1"/>
                </a:solidFill>
              </a:rPr>
              <a:t>Break-up</a:t>
            </a:r>
            <a:endParaRPr lang="en-US" sz="1500" dirty="0"/>
          </a:p>
        </p:txBody>
      </p:sp>
      <p:sp>
        <p:nvSpPr>
          <p:cNvPr id="39" name="Text 37"/>
          <p:cNvSpPr txBox="1"/>
          <p:nvPr/>
        </p:nvSpPr>
        <p:spPr>
          <a:xfrm>
            <a:off x="10154412" y="3154680"/>
            <a:ext cx="1508760" cy="548640"/>
          </a:xfrm>
          <a:prstGeom prst="rect">
            <a:avLst/>
          </a:prstGeom>
          <a:noFill/>
          <a:ln/>
        </p:spPr>
        <p:txBody>
          <a:bodyPr wrap="square" lIns="0" tIns="0" rIns="0" bIns="0" rtlCol="0" anchor="t"/>
          <a:lstStyle/>
          <a:p>
            <a:pPr marL="0" indent="0" algn="ctr">
              <a:buNone/>
            </a:pPr>
            <a:r>
              <a:rPr lang="en-US" sz="1200" dirty="0">
                <a:solidFill>
                  <a:schemeClr val="accent6"/>
                </a:solidFill>
              </a:rPr>
              <a:t>Last note, direct line</a:t>
            </a:r>
            <a:endParaRPr lang="en-US" sz="1200" dirty="0"/>
          </a:p>
        </p:txBody>
      </p:sp>
      <p:sp>
        <p:nvSpPr>
          <p:cNvPr id="40" name="Text 38"/>
          <p:cNvSpPr txBox="1"/>
          <p:nvPr/>
        </p:nvSpPr>
        <p:spPr>
          <a:xfrm>
            <a:off x="548640" y="3886200"/>
            <a:ext cx="11064240" cy="274320"/>
          </a:xfrm>
          <a:prstGeom prst="rect">
            <a:avLst/>
          </a:prstGeom>
          <a:noFill/>
          <a:ln/>
        </p:spPr>
        <p:txBody>
          <a:bodyPr wrap="square" lIns="0" tIns="0" rIns="0" bIns="0" rtlCol="0" anchor="ctr"/>
          <a:lstStyle/>
          <a:p>
            <a:pPr marL="0" indent="0">
              <a:buNone/>
            </a:pPr>
            <a:r>
              <a:rPr lang="en-US" sz="1200" i="1" dirty="0">
                <a:solidFill>
                  <a:schemeClr val="accent6"/>
                </a:solidFill>
              </a:rPr>
              <a:t>*Leads in Riverside County / Inland Empire get a San Jacinto version on day 20 instead. All 8 emails are built in GHL as drafts (Oct 15).</a:t>
            </a:r>
            <a:endParaRPr lang="en-US" sz="1200" dirty="0"/>
          </a:p>
        </p:txBody>
      </p:sp>
      <p:sp>
        <p:nvSpPr>
          <p:cNvPr id="41" name="Personal"/>
          <p:cNvSpPr/>
          <p:nvPr/>
        </p:nvSpPr>
        <p:spPr>
          <a:xfrm>
            <a:off x="548640" y="4389120"/>
            <a:ext cx="3383280" cy="1691640"/>
          </a:xfrm>
          <a:prstGeom prst="roundRect">
            <a:avLst>
              <a:gd name="adj" fmla="val 6486"/>
            </a:avLst>
          </a:prstGeom>
          <a:solidFill>
            <a:schemeClr val="bg2"/>
          </a:solidFill>
          <a:ln/>
        </p:spPr>
        <p:txBody>
          <a:bodyPr/>
          <a:lstStyle/>
          <a:p>
            <a:endParaRPr lang="en-US"/>
          </a:p>
        </p:txBody>
      </p:sp>
      <p:sp>
        <p:nvSpPr>
          <p:cNvPr id="42" name="Personal circle"/>
          <p:cNvSpPr/>
          <p:nvPr/>
        </p:nvSpPr>
        <p:spPr>
          <a:xfrm>
            <a:off x="822960" y="4617720"/>
            <a:ext cx="548640" cy="548640"/>
          </a:xfrm>
          <a:prstGeom prst="ellipse">
            <a:avLst/>
          </a:prstGeom>
          <a:solidFill>
            <a:schemeClr val="accent3"/>
          </a:solidFill>
          <a:ln/>
        </p:spPr>
        <p:txBody>
          <a:bodyPr/>
          <a:lstStyle/>
          <a:p>
            <a:endParaRPr lang="en-US"/>
          </a:p>
        </p:txBody>
      </p:sp>
      <p:pic>
        <p:nvPicPr>
          <p:cNvPr id="43" name="Personal" descr="Personal"/>
          <p:cNvPicPr>
            <a:picLocks noChangeAspect="1"/>
          </p:cNvPicPr>
          <p:nvPr/>
        </p:nvPicPr>
        <p:blipFill>
          <a:blip r:embed="rId3"/>
          <a:stretch>
            <a:fillRect/>
          </a:stretch>
        </p:blipFill>
        <p:spPr>
          <a:xfrm>
            <a:off x="960120" y="4754880"/>
            <a:ext cx="274320" cy="274320"/>
          </a:xfrm>
          <a:prstGeom prst="rect">
            <a:avLst/>
          </a:prstGeom>
        </p:spPr>
      </p:pic>
      <p:sp>
        <p:nvSpPr>
          <p:cNvPr id="44" name="Text 41"/>
          <p:cNvSpPr txBox="1"/>
          <p:nvPr/>
        </p:nvSpPr>
        <p:spPr>
          <a:xfrm>
            <a:off x="1508760" y="4663440"/>
            <a:ext cx="2286000" cy="457200"/>
          </a:xfrm>
          <a:prstGeom prst="rect">
            <a:avLst/>
          </a:prstGeom>
          <a:noFill/>
          <a:ln/>
        </p:spPr>
        <p:txBody>
          <a:bodyPr wrap="square" lIns="0" tIns="0" rIns="0" bIns="0" rtlCol="0" anchor="ctr"/>
          <a:lstStyle/>
          <a:p>
            <a:pPr marL="0" indent="0">
              <a:buNone/>
            </a:pPr>
            <a:r>
              <a:rPr lang="en-US" sz="1700" b="1" dirty="0">
                <a:solidFill>
                  <a:schemeClr val="tx1"/>
                </a:solidFill>
              </a:rPr>
              <a:t>Personal</a:t>
            </a:r>
            <a:endParaRPr lang="en-US" sz="1700" dirty="0"/>
          </a:p>
        </p:txBody>
      </p:sp>
      <p:sp>
        <p:nvSpPr>
          <p:cNvPr id="45" name="Text 42"/>
          <p:cNvSpPr txBox="1"/>
          <p:nvPr/>
        </p:nvSpPr>
        <p:spPr>
          <a:xfrm>
            <a:off x="822960" y="5303520"/>
            <a:ext cx="2926080" cy="685800"/>
          </a:xfrm>
          <a:prstGeom prst="rect">
            <a:avLst/>
          </a:prstGeom>
          <a:noFill/>
          <a:ln/>
        </p:spPr>
        <p:txBody>
          <a:bodyPr wrap="square" lIns="0" tIns="0" rIns="0" bIns="0" rtlCol="0" anchor="t"/>
          <a:lstStyle/>
          <a:p>
            <a:pPr marL="0" indent="0">
              <a:buNone/>
            </a:pPr>
            <a:r>
              <a:rPr lang="en-US" sz="1400" dirty="0">
                <a:solidFill>
                  <a:schemeClr val="accent6"/>
                </a:solidFill>
              </a:rPr>
              <a:t>Each email fills in the contact’s first name, organization and role</a:t>
            </a:r>
            <a:endParaRPr lang="en-US" sz="1400" dirty="0"/>
          </a:p>
        </p:txBody>
      </p:sp>
      <p:sp>
        <p:nvSpPr>
          <p:cNvPr id="46" name="Helpful before asking"/>
          <p:cNvSpPr/>
          <p:nvPr/>
        </p:nvSpPr>
        <p:spPr>
          <a:xfrm>
            <a:off x="4389120" y="4389120"/>
            <a:ext cx="3383280" cy="1691640"/>
          </a:xfrm>
          <a:prstGeom prst="roundRect">
            <a:avLst>
              <a:gd name="adj" fmla="val 6486"/>
            </a:avLst>
          </a:prstGeom>
          <a:solidFill>
            <a:schemeClr val="bg2"/>
          </a:solidFill>
          <a:ln/>
        </p:spPr>
        <p:txBody>
          <a:bodyPr/>
          <a:lstStyle/>
          <a:p>
            <a:endParaRPr lang="en-US"/>
          </a:p>
        </p:txBody>
      </p:sp>
      <p:sp>
        <p:nvSpPr>
          <p:cNvPr id="47" name="Helpful before asking circle"/>
          <p:cNvSpPr/>
          <p:nvPr/>
        </p:nvSpPr>
        <p:spPr>
          <a:xfrm>
            <a:off x="4663440" y="4617720"/>
            <a:ext cx="548640" cy="548640"/>
          </a:xfrm>
          <a:prstGeom prst="ellipse">
            <a:avLst/>
          </a:prstGeom>
          <a:solidFill>
            <a:schemeClr val="accent3"/>
          </a:solidFill>
          <a:ln/>
        </p:spPr>
        <p:txBody>
          <a:bodyPr/>
          <a:lstStyle/>
          <a:p>
            <a:endParaRPr lang="en-US"/>
          </a:p>
        </p:txBody>
      </p:sp>
      <p:pic>
        <p:nvPicPr>
          <p:cNvPr id="48" name="Helpful before asking" descr="Helpful before asking"/>
          <p:cNvPicPr>
            <a:picLocks noChangeAspect="1"/>
          </p:cNvPicPr>
          <p:nvPr/>
        </p:nvPicPr>
        <p:blipFill>
          <a:blip r:embed="rId4"/>
          <a:stretch>
            <a:fillRect/>
          </a:stretch>
        </p:blipFill>
        <p:spPr>
          <a:xfrm>
            <a:off x="4800600" y="4754880"/>
            <a:ext cx="274320" cy="274320"/>
          </a:xfrm>
          <a:prstGeom prst="rect">
            <a:avLst/>
          </a:prstGeom>
        </p:spPr>
      </p:pic>
      <p:sp>
        <p:nvSpPr>
          <p:cNvPr id="49" name="Text 45"/>
          <p:cNvSpPr txBox="1"/>
          <p:nvPr/>
        </p:nvSpPr>
        <p:spPr>
          <a:xfrm>
            <a:off x="5349240" y="4663440"/>
            <a:ext cx="2286000" cy="457200"/>
          </a:xfrm>
          <a:prstGeom prst="rect">
            <a:avLst/>
          </a:prstGeom>
          <a:noFill/>
          <a:ln/>
        </p:spPr>
        <p:txBody>
          <a:bodyPr wrap="square" lIns="0" tIns="0" rIns="0" bIns="0" rtlCol="0" anchor="ctr"/>
          <a:lstStyle/>
          <a:p>
            <a:pPr marL="0" indent="0">
              <a:buNone/>
            </a:pPr>
            <a:r>
              <a:rPr lang="en-US" sz="1700" b="1" dirty="0">
                <a:solidFill>
                  <a:schemeClr val="tx1"/>
                </a:solidFill>
              </a:rPr>
              <a:t>Helpful before asking</a:t>
            </a:r>
            <a:endParaRPr lang="en-US" sz="1700" dirty="0"/>
          </a:p>
        </p:txBody>
      </p:sp>
      <p:sp>
        <p:nvSpPr>
          <p:cNvPr id="50" name="Text 46"/>
          <p:cNvSpPr txBox="1"/>
          <p:nvPr/>
        </p:nvSpPr>
        <p:spPr>
          <a:xfrm>
            <a:off x="4663440" y="5303520"/>
            <a:ext cx="2926080" cy="685800"/>
          </a:xfrm>
          <a:prstGeom prst="rect">
            <a:avLst/>
          </a:prstGeom>
          <a:noFill/>
          <a:ln/>
        </p:spPr>
        <p:txBody>
          <a:bodyPr wrap="square" lIns="0" tIns="0" rIns="0" bIns="0" rtlCol="0" anchor="t"/>
          <a:lstStyle/>
          <a:p>
            <a:pPr marL="0" indent="0">
              <a:buNone/>
            </a:pPr>
            <a:r>
              <a:rPr lang="en-US" sz="1400" dirty="0">
                <a:solidFill>
                  <a:schemeClr val="accent6"/>
                </a:solidFill>
              </a:rPr>
              <a:t>The first emails give value; the tour ask comes on day 8</a:t>
            </a:r>
            <a:endParaRPr lang="en-US" sz="1400" dirty="0"/>
          </a:p>
        </p:txBody>
      </p:sp>
      <p:sp>
        <p:nvSpPr>
          <p:cNvPr id="51" name="Respectful"/>
          <p:cNvSpPr/>
          <p:nvPr/>
        </p:nvSpPr>
        <p:spPr>
          <a:xfrm>
            <a:off x="8229600" y="4389120"/>
            <a:ext cx="3383280" cy="1691640"/>
          </a:xfrm>
          <a:prstGeom prst="roundRect">
            <a:avLst>
              <a:gd name="adj" fmla="val 6486"/>
            </a:avLst>
          </a:prstGeom>
          <a:solidFill>
            <a:schemeClr val="bg2"/>
          </a:solidFill>
          <a:ln/>
        </p:spPr>
        <p:txBody>
          <a:bodyPr/>
          <a:lstStyle/>
          <a:p>
            <a:endParaRPr lang="en-US"/>
          </a:p>
        </p:txBody>
      </p:sp>
      <p:sp>
        <p:nvSpPr>
          <p:cNvPr id="52" name="Respectful circle"/>
          <p:cNvSpPr/>
          <p:nvPr/>
        </p:nvSpPr>
        <p:spPr>
          <a:xfrm>
            <a:off x="8503920" y="4617720"/>
            <a:ext cx="548640" cy="548640"/>
          </a:xfrm>
          <a:prstGeom prst="ellipse">
            <a:avLst/>
          </a:prstGeom>
          <a:solidFill>
            <a:schemeClr val="accent3"/>
          </a:solidFill>
          <a:ln/>
        </p:spPr>
        <p:txBody>
          <a:bodyPr/>
          <a:lstStyle/>
          <a:p>
            <a:endParaRPr lang="en-US"/>
          </a:p>
        </p:txBody>
      </p:sp>
      <p:pic>
        <p:nvPicPr>
          <p:cNvPr id="53" name="Respectful" descr="Respectful"/>
          <p:cNvPicPr>
            <a:picLocks noChangeAspect="1"/>
          </p:cNvPicPr>
          <p:nvPr/>
        </p:nvPicPr>
        <p:blipFill>
          <a:blip r:embed="rId5"/>
          <a:stretch>
            <a:fillRect/>
          </a:stretch>
        </p:blipFill>
        <p:spPr>
          <a:xfrm>
            <a:off x="8641080" y="4754880"/>
            <a:ext cx="274320" cy="274320"/>
          </a:xfrm>
          <a:prstGeom prst="rect">
            <a:avLst/>
          </a:prstGeom>
        </p:spPr>
      </p:pic>
      <p:sp>
        <p:nvSpPr>
          <p:cNvPr id="54" name="Text 49"/>
          <p:cNvSpPr txBox="1"/>
          <p:nvPr/>
        </p:nvSpPr>
        <p:spPr>
          <a:xfrm>
            <a:off x="9189720" y="4663440"/>
            <a:ext cx="2286000" cy="457200"/>
          </a:xfrm>
          <a:prstGeom prst="rect">
            <a:avLst/>
          </a:prstGeom>
          <a:noFill/>
          <a:ln/>
        </p:spPr>
        <p:txBody>
          <a:bodyPr wrap="square" lIns="0" tIns="0" rIns="0" bIns="0" rtlCol="0" anchor="ctr"/>
          <a:lstStyle/>
          <a:p>
            <a:pPr marL="0" indent="0">
              <a:buNone/>
            </a:pPr>
            <a:r>
              <a:rPr lang="en-US" sz="1700" b="1" dirty="0">
                <a:solidFill>
                  <a:schemeClr val="tx1"/>
                </a:solidFill>
              </a:rPr>
              <a:t>Respectful</a:t>
            </a:r>
            <a:endParaRPr lang="en-US" sz="1700" dirty="0"/>
          </a:p>
        </p:txBody>
      </p:sp>
      <p:sp>
        <p:nvSpPr>
          <p:cNvPr id="55" name="Text 50"/>
          <p:cNvSpPr txBox="1"/>
          <p:nvPr/>
        </p:nvSpPr>
        <p:spPr>
          <a:xfrm>
            <a:off x="8503920" y="5303520"/>
            <a:ext cx="2926080" cy="685800"/>
          </a:xfrm>
          <a:prstGeom prst="rect">
            <a:avLst/>
          </a:prstGeom>
          <a:noFill/>
          <a:ln/>
        </p:spPr>
        <p:txBody>
          <a:bodyPr wrap="square" lIns="0" tIns="0" rIns="0" bIns="0" rtlCol="0" anchor="t"/>
          <a:lstStyle/>
          <a:p>
            <a:pPr marL="0" indent="0">
              <a:buNone/>
            </a:pPr>
            <a:r>
              <a:rPr lang="en-US" sz="1400" dirty="0">
                <a:solidFill>
                  <a:schemeClr val="accent6"/>
                </a:solidFill>
              </a:rPr>
              <a:t>Every email has an easy opt-out: reply “no thanks”</a:t>
            </a:r>
            <a:endParaRPr lang="en-US" sz="1400" dirty="0"/>
          </a:p>
        </p:txBody>
      </p:sp>
      <p:sp>
        <p:nvSpPr>
          <p:cNvPr id="5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WEEK 3  ·  HOW IT CONNECTS</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What works today, and what is still in research</a:t>
            </a:r>
            <a:endParaRPr lang="en-US" sz="3400" dirty="0"/>
          </a:p>
        </p:txBody>
      </p:sp>
      <p:sp>
        <p:nvSpPr>
          <p:cNvPr id="4" name="Vercel CRM card"/>
          <p:cNvSpPr/>
          <p:nvPr/>
        </p:nvSpPr>
        <p:spPr>
          <a:xfrm>
            <a:off x="548640" y="1737360"/>
            <a:ext cx="2011680" cy="2377440"/>
          </a:xfrm>
          <a:prstGeom prst="roundRect">
            <a:avLst>
              <a:gd name="adj" fmla="val 5455"/>
            </a:avLst>
          </a:prstGeom>
          <a:solidFill>
            <a:schemeClr val="bg2"/>
          </a:solidFill>
          <a:ln/>
        </p:spPr>
        <p:txBody>
          <a:bodyPr/>
          <a:lstStyle/>
          <a:p>
            <a:endParaRPr lang="en-US"/>
          </a:p>
        </p:txBody>
      </p:sp>
      <p:sp>
        <p:nvSpPr>
          <p:cNvPr id="5" name="Vercel CRM circle"/>
          <p:cNvSpPr/>
          <p:nvPr/>
        </p:nvSpPr>
        <p:spPr>
          <a:xfrm>
            <a:off x="1211580" y="1938528"/>
            <a:ext cx="685800" cy="685800"/>
          </a:xfrm>
          <a:prstGeom prst="ellipse">
            <a:avLst/>
          </a:prstGeom>
          <a:solidFill>
            <a:schemeClr val="accent1"/>
          </a:solidFill>
          <a:ln/>
        </p:spPr>
        <p:txBody>
          <a:bodyPr/>
          <a:lstStyle/>
          <a:p>
            <a:endParaRPr lang="en-US"/>
          </a:p>
        </p:txBody>
      </p:sp>
      <p:pic>
        <p:nvPicPr>
          <p:cNvPr id="6" name="Vercel CRM" descr="Vercel CRM"/>
          <p:cNvPicPr>
            <a:picLocks noChangeAspect="1"/>
          </p:cNvPicPr>
          <p:nvPr/>
        </p:nvPicPr>
        <p:blipFill>
          <a:blip r:embed="rId3"/>
          <a:stretch>
            <a:fillRect/>
          </a:stretch>
        </p:blipFill>
        <p:spPr>
          <a:xfrm>
            <a:off x="1383030" y="2109978"/>
            <a:ext cx="342900" cy="342900"/>
          </a:xfrm>
          <a:prstGeom prst="rect">
            <a:avLst/>
          </a:prstGeom>
        </p:spPr>
      </p:pic>
      <p:sp>
        <p:nvSpPr>
          <p:cNvPr id="7" name="Text 4"/>
          <p:cNvSpPr txBox="1"/>
          <p:nvPr/>
        </p:nvSpPr>
        <p:spPr>
          <a:xfrm>
            <a:off x="640080" y="2724912"/>
            <a:ext cx="1828800" cy="365760"/>
          </a:xfrm>
          <a:prstGeom prst="rect">
            <a:avLst/>
          </a:prstGeom>
          <a:noFill/>
          <a:ln/>
        </p:spPr>
        <p:txBody>
          <a:bodyPr wrap="square" lIns="0" tIns="0" rIns="0" bIns="0" rtlCol="0" anchor="ctr"/>
          <a:lstStyle/>
          <a:p>
            <a:pPr marL="0" indent="0" algn="ctr">
              <a:buNone/>
            </a:pPr>
            <a:r>
              <a:rPr lang="en-US" sz="1600" b="1" dirty="0">
                <a:solidFill>
                  <a:schemeClr val="tx1"/>
                </a:solidFill>
              </a:rPr>
              <a:t>Vercel CRM</a:t>
            </a:r>
            <a:endParaRPr lang="en-US" sz="1600" dirty="0"/>
          </a:p>
        </p:txBody>
      </p:sp>
      <p:sp>
        <p:nvSpPr>
          <p:cNvPr id="8" name="Text 5"/>
          <p:cNvSpPr txBox="1"/>
          <p:nvPr/>
        </p:nvSpPr>
        <p:spPr>
          <a:xfrm>
            <a:off x="685800" y="3072384"/>
            <a:ext cx="1737360" cy="502920"/>
          </a:xfrm>
          <a:prstGeom prst="rect">
            <a:avLst/>
          </a:prstGeom>
          <a:noFill/>
          <a:ln/>
        </p:spPr>
        <p:txBody>
          <a:bodyPr wrap="square" lIns="0" tIns="0" rIns="0" bIns="0" rtlCol="0" anchor="t"/>
          <a:lstStyle/>
          <a:p>
            <a:pPr marL="0" indent="0" algn="ctr">
              <a:buNone/>
            </a:pPr>
            <a:r>
              <a:rPr lang="en-US" sz="1200" dirty="0">
                <a:solidFill>
                  <a:schemeClr val="accent6"/>
                </a:solidFill>
              </a:rPr>
              <a:t>Leads, contacts and “Save to GHL”</a:t>
            </a:r>
            <a:endParaRPr lang="en-US" sz="1200" dirty="0"/>
          </a:p>
        </p:txBody>
      </p:sp>
      <p:sp>
        <p:nvSpPr>
          <p:cNvPr id="9" name="status Working"/>
          <p:cNvSpPr/>
          <p:nvPr/>
        </p:nvSpPr>
        <p:spPr>
          <a:xfrm>
            <a:off x="731520" y="3639312"/>
            <a:ext cx="1645920" cy="310896"/>
          </a:xfrm>
          <a:prstGeom prst="roundRect">
            <a:avLst>
              <a:gd name="adj" fmla="val 50000"/>
            </a:avLst>
          </a:prstGeom>
          <a:solidFill>
            <a:schemeClr val="accent2"/>
          </a:solidFill>
          <a:ln/>
        </p:spPr>
        <p:txBody>
          <a:bodyPr/>
          <a:lstStyle/>
          <a:p>
            <a:endParaRPr lang="en-US"/>
          </a:p>
        </p:txBody>
      </p:sp>
      <p:sp>
        <p:nvSpPr>
          <p:cNvPr id="10" name="Text 7"/>
          <p:cNvSpPr txBox="1"/>
          <p:nvPr/>
        </p:nvSpPr>
        <p:spPr>
          <a:xfrm>
            <a:off x="731520" y="3639312"/>
            <a:ext cx="1645920" cy="310896"/>
          </a:xfrm>
          <a:prstGeom prst="rect">
            <a:avLst/>
          </a:prstGeom>
          <a:noFill/>
          <a:ln/>
        </p:spPr>
        <p:txBody>
          <a:bodyPr wrap="square" lIns="0" tIns="0" rIns="0" bIns="0" rtlCol="0" anchor="ctr"/>
          <a:lstStyle/>
          <a:p>
            <a:pPr marL="0" indent="0" algn="ctr">
              <a:buNone/>
            </a:pPr>
            <a:r>
              <a:rPr lang="en-US" sz="1100" b="1" dirty="0">
                <a:solidFill>
                  <a:schemeClr val="bg1"/>
                </a:solidFill>
              </a:rPr>
              <a:t>Working</a:t>
            </a:r>
            <a:endParaRPr lang="en-US" sz="1100" dirty="0"/>
          </a:p>
        </p:txBody>
      </p:sp>
      <p:pic>
        <p:nvPicPr>
          <p:cNvPr id="11" name="arrow" descr="then"/>
          <p:cNvPicPr>
            <a:picLocks noChangeAspect="1"/>
          </p:cNvPicPr>
          <p:nvPr/>
        </p:nvPicPr>
        <p:blipFill>
          <a:blip r:embed="rId4"/>
          <a:stretch>
            <a:fillRect/>
          </a:stretch>
        </p:blipFill>
        <p:spPr>
          <a:xfrm>
            <a:off x="2624328" y="2715768"/>
            <a:ext cx="128016" cy="219456"/>
          </a:xfrm>
          <a:prstGeom prst="rect">
            <a:avLst/>
          </a:prstGeom>
        </p:spPr>
      </p:pic>
      <p:sp>
        <p:nvSpPr>
          <p:cNvPr id="12" name="Supabase card"/>
          <p:cNvSpPr/>
          <p:nvPr/>
        </p:nvSpPr>
        <p:spPr>
          <a:xfrm>
            <a:off x="2816352" y="1737360"/>
            <a:ext cx="2011680" cy="2377440"/>
          </a:xfrm>
          <a:prstGeom prst="roundRect">
            <a:avLst>
              <a:gd name="adj" fmla="val 5455"/>
            </a:avLst>
          </a:prstGeom>
          <a:solidFill>
            <a:schemeClr val="bg2"/>
          </a:solidFill>
          <a:ln/>
        </p:spPr>
        <p:txBody>
          <a:bodyPr/>
          <a:lstStyle/>
          <a:p>
            <a:endParaRPr lang="en-US"/>
          </a:p>
        </p:txBody>
      </p:sp>
      <p:sp>
        <p:nvSpPr>
          <p:cNvPr id="13" name="Supabase circle"/>
          <p:cNvSpPr/>
          <p:nvPr/>
        </p:nvSpPr>
        <p:spPr>
          <a:xfrm>
            <a:off x="3479292" y="1938528"/>
            <a:ext cx="685800" cy="685800"/>
          </a:xfrm>
          <a:prstGeom prst="ellipse">
            <a:avLst/>
          </a:prstGeom>
          <a:solidFill>
            <a:schemeClr val="accent1"/>
          </a:solidFill>
          <a:ln/>
        </p:spPr>
        <p:txBody>
          <a:bodyPr/>
          <a:lstStyle/>
          <a:p>
            <a:endParaRPr lang="en-US"/>
          </a:p>
        </p:txBody>
      </p:sp>
      <p:pic>
        <p:nvPicPr>
          <p:cNvPr id="14" name="Supabase" descr="Supabase"/>
          <p:cNvPicPr>
            <a:picLocks noChangeAspect="1"/>
          </p:cNvPicPr>
          <p:nvPr/>
        </p:nvPicPr>
        <p:blipFill>
          <a:blip r:embed="rId5"/>
          <a:stretch>
            <a:fillRect/>
          </a:stretch>
        </p:blipFill>
        <p:spPr>
          <a:xfrm>
            <a:off x="3650742" y="2109978"/>
            <a:ext cx="342900" cy="342900"/>
          </a:xfrm>
          <a:prstGeom prst="rect">
            <a:avLst/>
          </a:prstGeom>
        </p:spPr>
      </p:pic>
      <p:sp>
        <p:nvSpPr>
          <p:cNvPr id="15" name="Text 10"/>
          <p:cNvSpPr txBox="1"/>
          <p:nvPr/>
        </p:nvSpPr>
        <p:spPr>
          <a:xfrm>
            <a:off x="2907792" y="2724912"/>
            <a:ext cx="1828800" cy="365760"/>
          </a:xfrm>
          <a:prstGeom prst="rect">
            <a:avLst/>
          </a:prstGeom>
          <a:noFill/>
          <a:ln/>
        </p:spPr>
        <p:txBody>
          <a:bodyPr wrap="square" lIns="0" tIns="0" rIns="0" bIns="0" rtlCol="0" anchor="ctr"/>
          <a:lstStyle/>
          <a:p>
            <a:pPr marL="0" indent="0" algn="ctr">
              <a:buNone/>
            </a:pPr>
            <a:r>
              <a:rPr lang="en-US" sz="1600" b="1" dirty="0">
                <a:solidFill>
                  <a:schemeClr val="tx1"/>
                </a:solidFill>
              </a:rPr>
              <a:t>Supabase</a:t>
            </a:r>
            <a:endParaRPr lang="en-US" sz="1600" dirty="0"/>
          </a:p>
        </p:txBody>
      </p:sp>
      <p:sp>
        <p:nvSpPr>
          <p:cNvPr id="16" name="Text 11"/>
          <p:cNvSpPr txBox="1"/>
          <p:nvPr/>
        </p:nvSpPr>
        <p:spPr>
          <a:xfrm>
            <a:off x="2953512" y="3072384"/>
            <a:ext cx="1737360" cy="502920"/>
          </a:xfrm>
          <a:prstGeom prst="rect">
            <a:avLst/>
          </a:prstGeom>
          <a:noFill/>
          <a:ln/>
        </p:spPr>
        <p:txBody>
          <a:bodyPr wrap="square" lIns="0" tIns="0" rIns="0" bIns="0" rtlCol="0" anchor="t"/>
          <a:lstStyle/>
          <a:p>
            <a:pPr marL="0" indent="0" algn="ctr">
              <a:buNone/>
            </a:pPr>
            <a:r>
              <a:rPr lang="en-US" sz="1200" dirty="0">
                <a:solidFill>
                  <a:schemeClr val="accent6"/>
                </a:solidFill>
              </a:rPr>
              <a:t>Stores every lead and campaign</a:t>
            </a:r>
            <a:endParaRPr lang="en-US" sz="1200" dirty="0"/>
          </a:p>
        </p:txBody>
      </p:sp>
      <p:sp>
        <p:nvSpPr>
          <p:cNvPr id="17" name="status Working"/>
          <p:cNvSpPr/>
          <p:nvPr/>
        </p:nvSpPr>
        <p:spPr>
          <a:xfrm>
            <a:off x="2999232" y="3639312"/>
            <a:ext cx="1645920" cy="310896"/>
          </a:xfrm>
          <a:prstGeom prst="roundRect">
            <a:avLst>
              <a:gd name="adj" fmla="val 50000"/>
            </a:avLst>
          </a:prstGeom>
          <a:solidFill>
            <a:schemeClr val="accent2"/>
          </a:solidFill>
          <a:ln/>
        </p:spPr>
        <p:txBody>
          <a:bodyPr/>
          <a:lstStyle/>
          <a:p>
            <a:endParaRPr lang="en-US"/>
          </a:p>
        </p:txBody>
      </p:sp>
      <p:sp>
        <p:nvSpPr>
          <p:cNvPr id="18" name="Text 13"/>
          <p:cNvSpPr txBox="1"/>
          <p:nvPr/>
        </p:nvSpPr>
        <p:spPr>
          <a:xfrm>
            <a:off x="2999232" y="3639312"/>
            <a:ext cx="1645920" cy="310896"/>
          </a:xfrm>
          <a:prstGeom prst="rect">
            <a:avLst/>
          </a:prstGeom>
          <a:noFill/>
          <a:ln/>
        </p:spPr>
        <p:txBody>
          <a:bodyPr wrap="square" lIns="0" tIns="0" rIns="0" bIns="0" rtlCol="0" anchor="ctr"/>
          <a:lstStyle/>
          <a:p>
            <a:pPr marL="0" indent="0" algn="ctr">
              <a:buNone/>
            </a:pPr>
            <a:r>
              <a:rPr lang="en-US" sz="1100" b="1" dirty="0">
                <a:solidFill>
                  <a:schemeClr val="bg1"/>
                </a:solidFill>
              </a:rPr>
              <a:t>Working</a:t>
            </a:r>
            <a:endParaRPr lang="en-US" sz="1100" dirty="0"/>
          </a:p>
        </p:txBody>
      </p:sp>
      <p:pic>
        <p:nvPicPr>
          <p:cNvPr id="19" name="arrow" descr="then"/>
          <p:cNvPicPr>
            <a:picLocks noChangeAspect="1"/>
          </p:cNvPicPr>
          <p:nvPr/>
        </p:nvPicPr>
        <p:blipFill>
          <a:blip r:embed="rId4"/>
          <a:stretch>
            <a:fillRect/>
          </a:stretch>
        </p:blipFill>
        <p:spPr>
          <a:xfrm>
            <a:off x="4892040" y="2715768"/>
            <a:ext cx="128016" cy="219456"/>
          </a:xfrm>
          <a:prstGeom prst="rect">
            <a:avLst/>
          </a:prstGeom>
        </p:spPr>
      </p:pic>
      <p:sp>
        <p:nvSpPr>
          <p:cNvPr id="20" name="GHL webhook card"/>
          <p:cNvSpPr/>
          <p:nvPr/>
        </p:nvSpPr>
        <p:spPr>
          <a:xfrm>
            <a:off x="5084064" y="1737360"/>
            <a:ext cx="2011680" cy="2377440"/>
          </a:xfrm>
          <a:prstGeom prst="roundRect">
            <a:avLst>
              <a:gd name="adj" fmla="val 5455"/>
            </a:avLst>
          </a:prstGeom>
          <a:solidFill>
            <a:schemeClr val="bg2"/>
          </a:solidFill>
          <a:ln/>
        </p:spPr>
        <p:txBody>
          <a:bodyPr/>
          <a:lstStyle/>
          <a:p>
            <a:endParaRPr lang="en-US"/>
          </a:p>
        </p:txBody>
      </p:sp>
      <p:sp>
        <p:nvSpPr>
          <p:cNvPr id="21" name="GHL webhook circle"/>
          <p:cNvSpPr/>
          <p:nvPr/>
        </p:nvSpPr>
        <p:spPr>
          <a:xfrm>
            <a:off x="5747004" y="1938528"/>
            <a:ext cx="685800" cy="685800"/>
          </a:xfrm>
          <a:prstGeom prst="ellipse">
            <a:avLst/>
          </a:prstGeom>
          <a:solidFill>
            <a:schemeClr val="accent1"/>
          </a:solidFill>
          <a:ln/>
        </p:spPr>
        <p:txBody>
          <a:bodyPr/>
          <a:lstStyle/>
          <a:p>
            <a:endParaRPr lang="en-US"/>
          </a:p>
        </p:txBody>
      </p:sp>
      <p:pic>
        <p:nvPicPr>
          <p:cNvPr id="22" name="GHL webhook" descr="GHL webhook"/>
          <p:cNvPicPr>
            <a:picLocks noChangeAspect="1"/>
          </p:cNvPicPr>
          <p:nvPr/>
        </p:nvPicPr>
        <p:blipFill>
          <a:blip r:embed="rId6"/>
          <a:stretch>
            <a:fillRect/>
          </a:stretch>
        </p:blipFill>
        <p:spPr>
          <a:xfrm>
            <a:off x="5918454" y="2109978"/>
            <a:ext cx="342900" cy="342900"/>
          </a:xfrm>
          <a:prstGeom prst="rect">
            <a:avLst/>
          </a:prstGeom>
        </p:spPr>
      </p:pic>
      <p:sp>
        <p:nvSpPr>
          <p:cNvPr id="23" name="Text 16"/>
          <p:cNvSpPr txBox="1"/>
          <p:nvPr/>
        </p:nvSpPr>
        <p:spPr>
          <a:xfrm>
            <a:off x="5175504" y="2724912"/>
            <a:ext cx="1828800" cy="365760"/>
          </a:xfrm>
          <a:prstGeom prst="rect">
            <a:avLst/>
          </a:prstGeom>
          <a:noFill/>
          <a:ln/>
        </p:spPr>
        <p:txBody>
          <a:bodyPr wrap="square" lIns="0" tIns="0" rIns="0" bIns="0" rtlCol="0" anchor="ctr"/>
          <a:lstStyle/>
          <a:p>
            <a:pPr marL="0" indent="0" algn="ctr">
              <a:buNone/>
            </a:pPr>
            <a:r>
              <a:rPr lang="en-US" sz="1600" b="1" dirty="0">
                <a:solidFill>
                  <a:schemeClr val="tx1"/>
                </a:solidFill>
              </a:rPr>
              <a:t>GHL webhook</a:t>
            </a:r>
            <a:endParaRPr lang="en-US" sz="1600" dirty="0"/>
          </a:p>
        </p:txBody>
      </p:sp>
      <p:sp>
        <p:nvSpPr>
          <p:cNvPr id="24" name="Text 17"/>
          <p:cNvSpPr txBox="1"/>
          <p:nvPr/>
        </p:nvSpPr>
        <p:spPr>
          <a:xfrm>
            <a:off x="5221224" y="3072384"/>
            <a:ext cx="1737360" cy="502920"/>
          </a:xfrm>
          <a:prstGeom prst="rect">
            <a:avLst/>
          </a:prstGeom>
          <a:noFill/>
          <a:ln/>
        </p:spPr>
        <p:txBody>
          <a:bodyPr wrap="square" lIns="0" tIns="0" rIns="0" bIns="0" rtlCol="0" anchor="t"/>
          <a:lstStyle/>
          <a:p>
            <a:pPr marL="0" indent="0" algn="ctr">
              <a:buNone/>
            </a:pPr>
            <a:r>
              <a:rPr lang="en-US" sz="1200" dirty="0">
                <a:solidFill>
                  <a:schemeClr val="accent6"/>
                </a:solidFill>
              </a:rPr>
              <a:t>Creates the contact, adds tag</a:t>
            </a:r>
            <a:endParaRPr lang="en-US" sz="1200" dirty="0"/>
          </a:p>
        </p:txBody>
      </p:sp>
      <p:sp>
        <p:nvSpPr>
          <p:cNvPr id="25" name="status Test data received"/>
          <p:cNvSpPr/>
          <p:nvPr/>
        </p:nvSpPr>
        <p:spPr>
          <a:xfrm>
            <a:off x="5266944" y="3639312"/>
            <a:ext cx="1645920" cy="310896"/>
          </a:xfrm>
          <a:prstGeom prst="roundRect">
            <a:avLst>
              <a:gd name="adj" fmla="val 50000"/>
            </a:avLst>
          </a:prstGeom>
          <a:solidFill>
            <a:schemeClr val="accent2"/>
          </a:solidFill>
          <a:ln/>
        </p:spPr>
        <p:txBody>
          <a:bodyPr/>
          <a:lstStyle/>
          <a:p>
            <a:endParaRPr lang="en-US"/>
          </a:p>
        </p:txBody>
      </p:sp>
      <p:sp>
        <p:nvSpPr>
          <p:cNvPr id="26" name="Text 19"/>
          <p:cNvSpPr txBox="1"/>
          <p:nvPr/>
        </p:nvSpPr>
        <p:spPr>
          <a:xfrm>
            <a:off x="5266944" y="3639312"/>
            <a:ext cx="1645920" cy="310896"/>
          </a:xfrm>
          <a:prstGeom prst="rect">
            <a:avLst/>
          </a:prstGeom>
          <a:noFill/>
          <a:ln/>
        </p:spPr>
        <p:txBody>
          <a:bodyPr wrap="square" lIns="0" tIns="0" rIns="0" bIns="0" rtlCol="0" anchor="ctr"/>
          <a:lstStyle/>
          <a:p>
            <a:pPr marL="0" indent="0" algn="ctr">
              <a:buNone/>
            </a:pPr>
            <a:r>
              <a:rPr lang="en-US" sz="1100" b="1" dirty="0">
                <a:solidFill>
                  <a:schemeClr val="bg1"/>
                </a:solidFill>
              </a:rPr>
              <a:t>Test data received</a:t>
            </a:r>
            <a:endParaRPr lang="en-US" sz="1100" dirty="0"/>
          </a:p>
        </p:txBody>
      </p:sp>
      <p:pic>
        <p:nvPicPr>
          <p:cNvPr id="27" name="arrow" descr="then"/>
          <p:cNvPicPr>
            <a:picLocks noChangeAspect="1"/>
          </p:cNvPicPr>
          <p:nvPr/>
        </p:nvPicPr>
        <p:blipFill>
          <a:blip r:embed="rId4"/>
          <a:stretch>
            <a:fillRect/>
          </a:stretch>
        </p:blipFill>
        <p:spPr>
          <a:xfrm>
            <a:off x="7159752" y="2715768"/>
            <a:ext cx="128016" cy="219456"/>
          </a:xfrm>
          <a:prstGeom prst="rect">
            <a:avLst/>
          </a:prstGeom>
        </p:spPr>
      </p:pic>
      <p:sp>
        <p:nvSpPr>
          <p:cNvPr id="28" name="GHL emails card"/>
          <p:cNvSpPr/>
          <p:nvPr/>
        </p:nvSpPr>
        <p:spPr>
          <a:xfrm>
            <a:off x="7351776" y="1737360"/>
            <a:ext cx="2011680" cy="2377440"/>
          </a:xfrm>
          <a:prstGeom prst="roundRect">
            <a:avLst>
              <a:gd name="adj" fmla="val 5455"/>
            </a:avLst>
          </a:prstGeom>
          <a:solidFill>
            <a:schemeClr val="bg2"/>
          </a:solidFill>
          <a:ln/>
        </p:spPr>
        <p:txBody>
          <a:bodyPr/>
          <a:lstStyle/>
          <a:p>
            <a:endParaRPr lang="en-US"/>
          </a:p>
        </p:txBody>
      </p:sp>
      <p:sp>
        <p:nvSpPr>
          <p:cNvPr id="29" name="GHL emails circle"/>
          <p:cNvSpPr/>
          <p:nvPr/>
        </p:nvSpPr>
        <p:spPr>
          <a:xfrm>
            <a:off x="8014716" y="1938528"/>
            <a:ext cx="685800" cy="685800"/>
          </a:xfrm>
          <a:prstGeom prst="ellipse">
            <a:avLst/>
          </a:prstGeom>
          <a:solidFill>
            <a:schemeClr val="accent1"/>
          </a:solidFill>
          <a:ln/>
        </p:spPr>
        <p:txBody>
          <a:bodyPr/>
          <a:lstStyle/>
          <a:p>
            <a:endParaRPr lang="en-US"/>
          </a:p>
        </p:txBody>
      </p:sp>
      <p:pic>
        <p:nvPicPr>
          <p:cNvPr id="30" name="GHL emails" descr="GHL emails"/>
          <p:cNvPicPr>
            <a:picLocks noChangeAspect="1"/>
          </p:cNvPicPr>
          <p:nvPr/>
        </p:nvPicPr>
        <p:blipFill>
          <a:blip r:embed="rId7"/>
          <a:stretch>
            <a:fillRect/>
          </a:stretch>
        </p:blipFill>
        <p:spPr>
          <a:xfrm>
            <a:off x="8186166" y="2109978"/>
            <a:ext cx="342900" cy="342900"/>
          </a:xfrm>
          <a:prstGeom prst="rect">
            <a:avLst/>
          </a:prstGeom>
        </p:spPr>
      </p:pic>
      <p:sp>
        <p:nvSpPr>
          <p:cNvPr id="31" name="Text 22"/>
          <p:cNvSpPr txBox="1"/>
          <p:nvPr/>
        </p:nvSpPr>
        <p:spPr>
          <a:xfrm>
            <a:off x="7443216" y="2724912"/>
            <a:ext cx="1828800" cy="365760"/>
          </a:xfrm>
          <a:prstGeom prst="rect">
            <a:avLst/>
          </a:prstGeom>
          <a:noFill/>
          <a:ln/>
        </p:spPr>
        <p:txBody>
          <a:bodyPr wrap="square" lIns="0" tIns="0" rIns="0" bIns="0" rtlCol="0" anchor="ctr"/>
          <a:lstStyle/>
          <a:p>
            <a:pPr marL="0" indent="0" algn="ctr">
              <a:buNone/>
            </a:pPr>
            <a:r>
              <a:rPr lang="en-US" sz="1600" b="1" dirty="0">
                <a:solidFill>
                  <a:schemeClr val="tx1"/>
                </a:solidFill>
              </a:rPr>
              <a:t>GHL emails</a:t>
            </a:r>
            <a:endParaRPr lang="en-US" sz="1600" dirty="0"/>
          </a:p>
        </p:txBody>
      </p:sp>
      <p:sp>
        <p:nvSpPr>
          <p:cNvPr id="32" name="Text 23"/>
          <p:cNvSpPr txBox="1"/>
          <p:nvPr/>
        </p:nvSpPr>
        <p:spPr>
          <a:xfrm>
            <a:off x="7488936" y="3072384"/>
            <a:ext cx="1737360" cy="502920"/>
          </a:xfrm>
          <a:prstGeom prst="rect">
            <a:avLst/>
          </a:prstGeom>
          <a:noFill/>
          <a:ln/>
        </p:spPr>
        <p:txBody>
          <a:bodyPr wrap="square" lIns="0" tIns="0" rIns="0" bIns="0" rtlCol="0" anchor="t"/>
          <a:lstStyle/>
          <a:p>
            <a:pPr marL="0" indent="0" algn="ctr">
              <a:buNone/>
            </a:pPr>
            <a:r>
              <a:rPr lang="en-US" sz="1200" dirty="0">
                <a:solidFill>
                  <a:schemeClr val="accent6"/>
                </a:solidFill>
              </a:rPr>
              <a:t>All 8 referral emails</a:t>
            </a:r>
            <a:endParaRPr lang="en-US" sz="1200" dirty="0"/>
          </a:p>
        </p:txBody>
      </p:sp>
      <p:sp>
        <p:nvSpPr>
          <p:cNvPr id="33" name="status Built as drafts"/>
          <p:cNvSpPr/>
          <p:nvPr/>
        </p:nvSpPr>
        <p:spPr>
          <a:xfrm>
            <a:off x="7534656" y="3639312"/>
            <a:ext cx="1645920" cy="310896"/>
          </a:xfrm>
          <a:prstGeom prst="roundRect">
            <a:avLst>
              <a:gd name="adj" fmla="val 50000"/>
            </a:avLst>
          </a:prstGeom>
          <a:solidFill>
            <a:schemeClr val="accent4"/>
          </a:solidFill>
          <a:ln/>
        </p:spPr>
        <p:txBody>
          <a:bodyPr/>
          <a:lstStyle/>
          <a:p>
            <a:endParaRPr lang="en-US"/>
          </a:p>
        </p:txBody>
      </p:sp>
      <p:sp>
        <p:nvSpPr>
          <p:cNvPr id="34" name="Text 25"/>
          <p:cNvSpPr txBox="1"/>
          <p:nvPr/>
        </p:nvSpPr>
        <p:spPr>
          <a:xfrm>
            <a:off x="7534656" y="3639312"/>
            <a:ext cx="1645920" cy="310896"/>
          </a:xfrm>
          <a:prstGeom prst="rect">
            <a:avLst/>
          </a:prstGeom>
          <a:noFill/>
          <a:ln/>
        </p:spPr>
        <p:txBody>
          <a:bodyPr wrap="square" lIns="0" tIns="0" rIns="0" bIns="0" rtlCol="0" anchor="ctr"/>
          <a:lstStyle/>
          <a:p>
            <a:pPr marL="0" indent="0" algn="ctr">
              <a:buNone/>
            </a:pPr>
            <a:r>
              <a:rPr lang="en-US" sz="1100" b="1" dirty="0">
                <a:solidFill>
                  <a:schemeClr val="bg1"/>
                </a:solidFill>
              </a:rPr>
              <a:t>Built as drafts</a:t>
            </a:r>
            <a:endParaRPr lang="en-US" sz="1100" dirty="0"/>
          </a:p>
        </p:txBody>
      </p:sp>
      <p:pic>
        <p:nvPicPr>
          <p:cNvPr id="35" name="arrow" descr="then"/>
          <p:cNvPicPr>
            <a:picLocks noChangeAspect="1"/>
          </p:cNvPicPr>
          <p:nvPr/>
        </p:nvPicPr>
        <p:blipFill>
          <a:blip r:embed="rId4"/>
          <a:stretch>
            <a:fillRect/>
          </a:stretch>
        </p:blipFill>
        <p:spPr>
          <a:xfrm>
            <a:off x="9427464" y="2715768"/>
            <a:ext cx="128016" cy="219456"/>
          </a:xfrm>
          <a:prstGeom prst="rect">
            <a:avLst/>
          </a:prstGeom>
        </p:spPr>
      </p:pic>
      <p:sp>
        <p:nvSpPr>
          <p:cNvPr id="36" name="Automated sending card"/>
          <p:cNvSpPr/>
          <p:nvPr/>
        </p:nvSpPr>
        <p:spPr>
          <a:xfrm>
            <a:off x="9619488" y="1737360"/>
            <a:ext cx="2011680" cy="2377440"/>
          </a:xfrm>
          <a:prstGeom prst="roundRect">
            <a:avLst>
              <a:gd name="adj" fmla="val 5455"/>
            </a:avLst>
          </a:prstGeom>
          <a:solidFill>
            <a:schemeClr val="bg2"/>
          </a:solidFill>
          <a:ln w="19050">
            <a:solidFill>
              <a:schemeClr val="accent5"/>
            </a:solidFill>
            <a:prstDash val="dash"/>
          </a:ln>
        </p:spPr>
        <p:txBody>
          <a:bodyPr/>
          <a:lstStyle/>
          <a:p>
            <a:endParaRPr lang="en-US"/>
          </a:p>
        </p:txBody>
      </p:sp>
      <p:sp>
        <p:nvSpPr>
          <p:cNvPr id="37" name="Automated sending circle"/>
          <p:cNvSpPr/>
          <p:nvPr/>
        </p:nvSpPr>
        <p:spPr>
          <a:xfrm>
            <a:off x="10282428" y="1938528"/>
            <a:ext cx="685800" cy="685800"/>
          </a:xfrm>
          <a:prstGeom prst="ellipse">
            <a:avLst/>
          </a:prstGeom>
          <a:solidFill>
            <a:schemeClr val="accent5"/>
          </a:solidFill>
          <a:ln/>
        </p:spPr>
        <p:txBody>
          <a:bodyPr/>
          <a:lstStyle/>
          <a:p>
            <a:endParaRPr lang="en-US"/>
          </a:p>
        </p:txBody>
      </p:sp>
      <p:pic>
        <p:nvPicPr>
          <p:cNvPr id="38" name="Automated sending" descr="Automated sending"/>
          <p:cNvPicPr>
            <a:picLocks noChangeAspect="1"/>
          </p:cNvPicPr>
          <p:nvPr/>
        </p:nvPicPr>
        <p:blipFill>
          <a:blip r:embed="rId8"/>
          <a:stretch>
            <a:fillRect/>
          </a:stretch>
        </p:blipFill>
        <p:spPr>
          <a:xfrm>
            <a:off x="10453878" y="2109978"/>
            <a:ext cx="342900" cy="342900"/>
          </a:xfrm>
          <a:prstGeom prst="rect">
            <a:avLst/>
          </a:prstGeom>
        </p:spPr>
      </p:pic>
      <p:sp>
        <p:nvSpPr>
          <p:cNvPr id="39" name="Text 28"/>
          <p:cNvSpPr txBox="1"/>
          <p:nvPr/>
        </p:nvSpPr>
        <p:spPr>
          <a:xfrm>
            <a:off x="9710928" y="2724912"/>
            <a:ext cx="1828800" cy="365760"/>
          </a:xfrm>
          <a:prstGeom prst="rect">
            <a:avLst/>
          </a:prstGeom>
          <a:noFill/>
          <a:ln/>
        </p:spPr>
        <p:txBody>
          <a:bodyPr wrap="square" lIns="0" tIns="0" rIns="0" bIns="0" rtlCol="0" anchor="ctr"/>
          <a:lstStyle/>
          <a:p>
            <a:pPr marL="0" indent="0" algn="ctr">
              <a:buNone/>
            </a:pPr>
            <a:r>
              <a:rPr lang="en-US" sz="1600" b="1" dirty="0">
                <a:solidFill>
                  <a:schemeClr val="tx1"/>
                </a:solidFill>
              </a:rPr>
              <a:t>Automated sending</a:t>
            </a:r>
            <a:endParaRPr lang="en-US" sz="1600" dirty="0"/>
          </a:p>
        </p:txBody>
      </p:sp>
      <p:sp>
        <p:nvSpPr>
          <p:cNvPr id="40" name="Text 29"/>
          <p:cNvSpPr txBox="1"/>
          <p:nvPr/>
        </p:nvSpPr>
        <p:spPr>
          <a:xfrm>
            <a:off x="9756648" y="3072384"/>
            <a:ext cx="1737360" cy="502920"/>
          </a:xfrm>
          <a:prstGeom prst="rect">
            <a:avLst/>
          </a:prstGeom>
          <a:noFill/>
          <a:ln/>
        </p:spPr>
        <p:txBody>
          <a:bodyPr wrap="square" lIns="0" tIns="0" rIns="0" bIns="0" rtlCol="0" anchor="t"/>
          <a:lstStyle/>
          <a:p>
            <a:pPr marL="0" indent="0" algn="ctr">
              <a:buNone/>
            </a:pPr>
            <a:r>
              <a:rPr lang="en-US" sz="1200" dirty="0">
                <a:solidFill>
                  <a:schemeClr val="accent6"/>
                </a:solidFill>
              </a:rPr>
              <a:t>Vercel → Supabase → GHL</a:t>
            </a:r>
            <a:endParaRPr lang="en-US" sz="1200" dirty="0"/>
          </a:p>
        </p:txBody>
      </p:sp>
      <p:sp>
        <p:nvSpPr>
          <p:cNvPr id="41" name="status In research"/>
          <p:cNvSpPr/>
          <p:nvPr/>
        </p:nvSpPr>
        <p:spPr>
          <a:xfrm>
            <a:off x="9802368" y="3639312"/>
            <a:ext cx="1645920" cy="310896"/>
          </a:xfrm>
          <a:prstGeom prst="roundRect">
            <a:avLst>
              <a:gd name="adj" fmla="val 50000"/>
            </a:avLst>
          </a:prstGeom>
          <a:solidFill>
            <a:schemeClr val="accent5"/>
          </a:solidFill>
          <a:ln/>
        </p:spPr>
        <p:txBody>
          <a:bodyPr/>
          <a:lstStyle/>
          <a:p>
            <a:endParaRPr lang="en-US"/>
          </a:p>
        </p:txBody>
      </p:sp>
      <p:sp>
        <p:nvSpPr>
          <p:cNvPr id="42" name="Text 31"/>
          <p:cNvSpPr txBox="1"/>
          <p:nvPr/>
        </p:nvSpPr>
        <p:spPr>
          <a:xfrm>
            <a:off x="9802368" y="3639312"/>
            <a:ext cx="1645920" cy="310896"/>
          </a:xfrm>
          <a:prstGeom prst="rect">
            <a:avLst/>
          </a:prstGeom>
          <a:noFill/>
          <a:ln/>
        </p:spPr>
        <p:txBody>
          <a:bodyPr wrap="square" lIns="0" tIns="0" rIns="0" bIns="0" rtlCol="0" anchor="ctr"/>
          <a:lstStyle/>
          <a:p>
            <a:pPr marL="0" indent="0" algn="ctr">
              <a:buNone/>
            </a:pPr>
            <a:r>
              <a:rPr lang="en-US" sz="1100" b="1" dirty="0">
                <a:solidFill>
                  <a:schemeClr val="bg1"/>
                </a:solidFill>
              </a:rPr>
              <a:t>In research</a:t>
            </a:r>
            <a:endParaRPr lang="en-US" sz="1100" dirty="0"/>
          </a:p>
        </p:txBody>
      </p:sp>
      <p:sp>
        <p:nvSpPr>
          <p:cNvPr id="43" name="research box"/>
          <p:cNvSpPr/>
          <p:nvPr/>
        </p:nvSpPr>
        <p:spPr>
          <a:xfrm>
            <a:off x="548640" y="4343400"/>
            <a:ext cx="11064240" cy="1874520"/>
          </a:xfrm>
          <a:prstGeom prst="roundRect">
            <a:avLst>
              <a:gd name="adj" fmla="val 5854"/>
            </a:avLst>
          </a:prstGeom>
          <a:solidFill>
            <a:schemeClr val="bg2"/>
          </a:solidFill>
          <a:ln/>
        </p:spPr>
        <p:txBody>
          <a:bodyPr/>
          <a:lstStyle/>
          <a:p>
            <a:endParaRPr lang="en-US"/>
          </a:p>
        </p:txBody>
      </p:sp>
      <p:sp>
        <p:nvSpPr>
          <p:cNvPr id="44" name="research circle"/>
          <p:cNvSpPr/>
          <p:nvPr/>
        </p:nvSpPr>
        <p:spPr>
          <a:xfrm>
            <a:off x="822960" y="4572000"/>
            <a:ext cx="640080" cy="640080"/>
          </a:xfrm>
          <a:prstGeom prst="ellipse">
            <a:avLst/>
          </a:prstGeom>
          <a:solidFill>
            <a:schemeClr val="accent5"/>
          </a:solidFill>
          <a:ln/>
        </p:spPr>
        <p:txBody>
          <a:bodyPr/>
          <a:lstStyle/>
          <a:p>
            <a:endParaRPr lang="en-US"/>
          </a:p>
        </p:txBody>
      </p:sp>
      <p:pic>
        <p:nvPicPr>
          <p:cNvPr id="45" name="research" descr="research"/>
          <p:cNvPicPr>
            <a:picLocks noChangeAspect="1"/>
          </p:cNvPicPr>
          <p:nvPr/>
        </p:nvPicPr>
        <p:blipFill>
          <a:blip r:embed="rId9"/>
          <a:stretch>
            <a:fillRect/>
          </a:stretch>
        </p:blipFill>
        <p:spPr>
          <a:xfrm>
            <a:off x="982980" y="4732020"/>
            <a:ext cx="320040" cy="320040"/>
          </a:xfrm>
          <a:prstGeom prst="rect">
            <a:avLst/>
          </a:prstGeom>
        </p:spPr>
      </p:pic>
      <p:sp>
        <p:nvSpPr>
          <p:cNvPr id="46" name="Text 34"/>
          <p:cNvSpPr txBox="1"/>
          <p:nvPr/>
        </p:nvSpPr>
        <p:spPr>
          <a:xfrm>
            <a:off x="1691640" y="4526280"/>
            <a:ext cx="9692640" cy="365760"/>
          </a:xfrm>
          <a:prstGeom prst="rect">
            <a:avLst/>
          </a:prstGeom>
          <a:noFill/>
          <a:ln/>
        </p:spPr>
        <p:txBody>
          <a:bodyPr wrap="square" lIns="0" tIns="0" rIns="0" bIns="0" rtlCol="0" anchor="ctr"/>
          <a:lstStyle/>
          <a:p>
            <a:pPr marL="0" indent="0">
              <a:buNone/>
            </a:pPr>
            <a:r>
              <a:rPr lang="en-US" sz="1700" b="1" dirty="0">
                <a:solidFill>
                  <a:schemeClr val="tx1"/>
                </a:solidFill>
              </a:rPr>
              <a:t>Research in progress: the email connection from Vercel to Supabase to GHL</a:t>
            </a:r>
            <a:endParaRPr lang="en-US" sz="1700" dirty="0"/>
          </a:p>
        </p:txBody>
      </p:sp>
      <p:sp>
        <p:nvSpPr>
          <p:cNvPr id="47" name="Text 35"/>
          <p:cNvSpPr txBox="1"/>
          <p:nvPr/>
        </p:nvSpPr>
        <p:spPr>
          <a:xfrm>
            <a:off x="1691640" y="4937760"/>
            <a:ext cx="969264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accent6"/>
                </a:solidFill>
              </a:rPr>
              <a:t>Nothing is confirmed yet. I can’t test the connection end to end without these credentials:</a:t>
            </a:r>
            <a:endParaRPr lang="en-US" sz="1400" dirty="0"/>
          </a:p>
          <a:p>
            <a:pPr marL="457200" lvl="1" indent="-228600">
              <a:spcAft>
                <a:spcPts val="300"/>
              </a:spcAft>
              <a:buSzPct val="100000"/>
              <a:buChar char="•"/>
            </a:pPr>
            <a:r>
              <a:rPr lang="en-US" sz="1400" dirty="0">
                <a:solidFill>
                  <a:schemeClr val="accent6"/>
                </a:solidFill>
              </a:rPr>
              <a:t>GHL Private Integration token and Location ID, so the CRM can create contacts and send emails through GHL</a:t>
            </a:r>
            <a:endParaRPr lang="en-US" sz="1400" dirty="0"/>
          </a:p>
          <a:p>
            <a:pPr marL="457200" lvl="1" indent="-228600">
              <a:spcAft>
                <a:spcPts val="300"/>
              </a:spcAft>
              <a:buSzPct val="100000"/>
              <a:buChar char="•"/>
            </a:pPr>
            <a:r>
              <a:rPr lang="en-US" sz="1400" dirty="0">
                <a:solidFill>
                  <a:schemeClr val="accent6"/>
                </a:solidFill>
              </a:rPr>
              <a:t>Supabase service-role key, so the server can read leads and trigger the sends securely</a:t>
            </a:r>
            <a:endParaRPr lang="en-US" sz="1400" dirty="0"/>
          </a:p>
        </p:txBody>
      </p:sp>
      <p:sp>
        <p:nvSpPr>
          <p:cNvPr id="4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EXTRA FEATURES  ·  BUILT ALONG THE WAY</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Extra features I added to the CRM</a:t>
            </a:r>
            <a:endParaRPr lang="en-US" sz="3400" dirty="0"/>
          </a:p>
        </p:txBody>
      </p:sp>
      <p:sp>
        <p:nvSpPr>
          <p:cNvPr id="4" name="LinkedIn profiles of key staff"/>
          <p:cNvSpPr/>
          <p:nvPr/>
        </p:nvSpPr>
        <p:spPr>
          <a:xfrm>
            <a:off x="548640" y="1737360"/>
            <a:ext cx="5394960" cy="1234440"/>
          </a:xfrm>
          <a:prstGeom prst="roundRect">
            <a:avLst>
              <a:gd name="adj" fmla="val 8889"/>
            </a:avLst>
          </a:prstGeom>
          <a:solidFill>
            <a:schemeClr val="bg2"/>
          </a:solidFill>
          <a:ln/>
        </p:spPr>
        <p:txBody>
          <a:bodyPr/>
          <a:lstStyle/>
          <a:p>
            <a:endParaRPr lang="en-US"/>
          </a:p>
        </p:txBody>
      </p:sp>
      <p:sp>
        <p:nvSpPr>
          <p:cNvPr id="5" name="LinkedIn profiles of key staff circle"/>
          <p:cNvSpPr/>
          <p:nvPr/>
        </p:nvSpPr>
        <p:spPr>
          <a:xfrm>
            <a:off x="822960" y="2029968"/>
            <a:ext cx="640080" cy="640080"/>
          </a:xfrm>
          <a:prstGeom prst="ellipse">
            <a:avLst/>
          </a:prstGeom>
          <a:solidFill>
            <a:schemeClr val="accent1"/>
          </a:solidFill>
          <a:ln/>
        </p:spPr>
        <p:txBody>
          <a:bodyPr/>
          <a:lstStyle/>
          <a:p>
            <a:endParaRPr lang="en-US"/>
          </a:p>
        </p:txBody>
      </p:sp>
      <p:pic>
        <p:nvPicPr>
          <p:cNvPr id="6" name="LinkedIn profiles of key staff" descr="LinkedIn profiles of key staff"/>
          <p:cNvPicPr>
            <a:picLocks noChangeAspect="1"/>
          </p:cNvPicPr>
          <p:nvPr/>
        </p:nvPicPr>
        <p:blipFill>
          <a:blip r:embed="rId3"/>
          <a:stretch>
            <a:fillRect/>
          </a:stretch>
        </p:blipFill>
        <p:spPr>
          <a:xfrm>
            <a:off x="982980" y="2189988"/>
            <a:ext cx="320040" cy="320040"/>
          </a:xfrm>
          <a:prstGeom prst="rect">
            <a:avLst/>
          </a:prstGeom>
        </p:spPr>
      </p:pic>
      <p:sp>
        <p:nvSpPr>
          <p:cNvPr id="7" name="Text 4"/>
          <p:cNvSpPr txBox="1"/>
          <p:nvPr/>
        </p:nvSpPr>
        <p:spPr>
          <a:xfrm>
            <a:off x="1691640" y="190195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LinkedIn profiles of key staff</a:t>
            </a:r>
            <a:endParaRPr lang="en-US" sz="1700" dirty="0"/>
          </a:p>
        </p:txBody>
      </p:sp>
      <p:sp>
        <p:nvSpPr>
          <p:cNvPr id="8" name="Text 5"/>
          <p:cNvSpPr txBox="1"/>
          <p:nvPr/>
        </p:nvSpPr>
        <p:spPr>
          <a:xfrm>
            <a:off x="1691640" y="226771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Click a hospital or SNF to see its case managers, DONs and administrators, with LinkedIn links</a:t>
            </a:r>
            <a:endParaRPr lang="en-US" sz="1400" dirty="0"/>
          </a:p>
        </p:txBody>
      </p:sp>
      <p:sp>
        <p:nvSpPr>
          <p:cNvPr id="9" name="One-click contact lookup"/>
          <p:cNvSpPr/>
          <p:nvPr/>
        </p:nvSpPr>
        <p:spPr>
          <a:xfrm>
            <a:off x="6217920" y="1737360"/>
            <a:ext cx="5394960" cy="1234440"/>
          </a:xfrm>
          <a:prstGeom prst="roundRect">
            <a:avLst>
              <a:gd name="adj" fmla="val 8889"/>
            </a:avLst>
          </a:prstGeom>
          <a:solidFill>
            <a:schemeClr val="bg2"/>
          </a:solidFill>
          <a:ln/>
        </p:spPr>
        <p:txBody>
          <a:bodyPr/>
          <a:lstStyle/>
          <a:p>
            <a:endParaRPr lang="en-US"/>
          </a:p>
        </p:txBody>
      </p:sp>
      <p:sp>
        <p:nvSpPr>
          <p:cNvPr id="10" name="One-click contact lookup circle"/>
          <p:cNvSpPr/>
          <p:nvPr/>
        </p:nvSpPr>
        <p:spPr>
          <a:xfrm>
            <a:off x="6492240" y="2029968"/>
            <a:ext cx="640080" cy="640080"/>
          </a:xfrm>
          <a:prstGeom prst="ellipse">
            <a:avLst/>
          </a:prstGeom>
          <a:solidFill>
            <a:schemeClr val="accent2"/>
          </a:solidFill>
          <a:ln/>
        </p:spPr>
        <p:txBody>
          <a:bodyPr/>
          <a:lstStyle/>
          <a:p>
            <a:endParaRPr lang="en-US"/>
          </a:p>
        </p:txBody>
      </p:sp>
      <p:pic>
        <p:nvPicPr>
          <p:cNvPr id="11" name="One-click contact lookup" descr="One-click contact lookup"/>
          <p:cNvPicPr>
            <a:picLocks noChangeAspect="1"/>
          </p:cNvPicPr>
          <p:nvPr/>
        </p:nvPicPr>
        <p:blipFill>
          <a:blip r:embed="rId4"/>
          <a:stretch>
            <a:fillRect/>
          </a:stretch>
        </p:blipFill>
        <p:spPr>
          <a:xfrm>
            <a:off x="6652260" y="2189988"/>
            <a:ext cx="320040" cy="320040"/>
          </a:xfrm>
          <a:prstGeom prst="rect">
            <a:avLst/>
          </a:prstGeom>
        </p:spPr>
      </p:pic>
      <p:sp>
        <p:nvSpPr>
          <p:cNvPr id="12" name="Text 8"/>
          <p:cNvSpPr txBox="1"/>
          <p:nvPr/>
        </p:nvSpPr>
        <p:spPr>
          <a:xfrm>
            <a:off x="7360920" y="190195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One-click contact lookup</a:t>
            </a:r>
            <a:endParaRPr lang="en-US" sz="1700" dirty="0"/>
          </a:p>
        </p:txBody>
      </p:sp>
      <p:sp>
        <p:nvSpPr>
          <p:cNvPr id="13" name="Text 9"/>
          <p:cNvSpPr txBox="1"/>
          <p:nvPr/>
        </p:nvSpPr>
        <p:spPr>
          <a:xfrm>
            <a:off x="7360920" y="226771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Finds each facility’s website, phone and email, and shows where every detail came from</a:t>
            </a:r>
            <a:endParaRPr lang="en-US" sz="1400" dirty="0"/>
          </a:p>
        </p:txBody>
      </p:sp>
      <p:sp>
        <p:nvSpPr>
          <p:cNvPr id="14" name="Trusted contacts only"/>
          <p:cNvSpPr/>
          <p:nvPr/>
        </p:nvSpPr>
        <p:spPr>
          <a:xfrm>
            <a:off x="548640" y="3200400"/>
            <a:ext cx="5394960" cy="1234440"/>
          </a:xfrm>
          <a:prstGeom prst="roundRect">
            <a:avLst>
              <a:gd name="adj" fmla="val 8889"/>
            </a:avLst>
          </a:prstGeom>
          <a:solidFill>
            <a:schemeClr val="bg2"/>
          </a:solidFill>
          <a:ln/>
        </p:spPr>
        <p:txBody>
          <a:bodyPr/>
          <a:lstStyle/>
          <a:p>
            <a:endParaRPr lang="en-US"/>
          </a:p>
        </p:txBody>
      </p:sp>
      <p:sp>
        <p:nvSpPr>
          <p:cNvPr id="15" name="Trusted contacts only circle"/>
          <p:cNvSpPr/>
          <p:nvPr/>
        </p:nvSpPr>
        <p:spPr>
          <a:xfrm>
            <a:off x="822960" y="3493008"/>
            <a:ext cx="640080" cy="640080"/>
          </a:xfrm>
          <a:prstGeom prst="ellipse">
            <a:avLst/>
          </a:prstGeom>
          <a:solidFill>
            <a:schemeClr val="accent1"/>
          </a:solidFill>
          <a:ln/>
        </p:spPr>
        <p:txBody>
          <a:bodyPr/>
          <a:lstStyle/>
          <a:p>
            <a:endParaRPr lang="en-US"/>
          </a:p>
        </p:txBody>
      </p:sp>
      <p:pic>
        <p:nvPicPr>
          <p:cNvPr id="16" name="Trusted contacts only" descr="Trusted contacts only"/>
          <p:cNvPicPr>
            <a:picLocks noChangeAspect="1"/>
          </p:cNvPicPr>
          <p:nvPr/>
        </p:nvPicPr>
        <p:blipFill>
          <a:blip r:embed="rId5"/>
          <a:stretch>
            <a:fillRect/>
          </a:stretch>
        </p:blipFill>
        <p:spPr>
          <a:xfrm>
            <a:off x="982980" y="3653028"/>
            <a:ext cx="320040" cy="320040"/>
          </a:xfrm>
          <a:prstGeom prst="rect">
            <a:avLst/>
          </a:prstGeom>
        </p:spPr>
      </p:pic>
      <p:sp>
        <p:nvSpPr>
          <p:cNvPr id="17" name="Text 12"/>
          <p:cNvSpPr txBox="1"/>
          <p:nvPr/>
        </p:nvSpPr>
        <p:spPr>
          <a:xfrm>
            <a:off x="1691640" y="336499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Trusted contacts only</a:t>
            </a:r>
            <a:endParaRPr lang="en-US" sz="1700" dirty="0"/>
          </a:p>
        </p:txBody>
      </p:sp>
      <p:sp>
        <p:nvSpPr>
          <p:cNvPr id="18" name="Text 13"/>
          <p:cNvSpPr txBox="1"/>
          <p:nvPr/>
        </p:nvSpPr>
        <p:spPr>
          <a:xfrm>
            <a:off x="1691640" y="373075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Skips directory sites like Yelp and Healthgrades, so only the facility’s own contacts are kept</a:t>
            </a:r>
            <a:endParaRPr lang="en-US" sz="1400" dirty="0"/>
          </a:p>
        </p:txBody>
      </p:sp>
      <p:sp>
        <p:nvSpPr>
          <p:cNvPr id="19" name="Bed space availability"/>
          <p:cNvSpPr/>
          <p:nvPr/>
        </p:nvSpPr>
        <p:spPr>
          <a:xfrm>
            <a:off x="6217920" y="3200400"/>
            <a:ext cx="5394960" cy="1234440"/>
          </a:xfrm>
          <a:prstGeom prst="roundRect">
            <a:avLst>
              <a:gd name="adj" fmla="val 8889"/>
            </a:avLst>
          </a:prstGeom>
          <a:solidFill>
            <a:schemeClr val="bg2"/>
          </a:solidFill>
          <a:ln/>
        </p:spPr>
        <p:txBody>
          <a:bodyPr/>
          <a:lstStyle/>
          <a:p>
            <a:endParaRPr lang="en-US"/>
          </a:p>
        </p:txBody>
      </p:sp>
      <p:sp>
        <p:nvSpPr>
          <p:cNvPr id="20" name="Bed space availability circle"/>
          <p:cNvSpPr/>
          <p:nvPr/>
        </p:nvSpPr>
        <p:spPr>
          <a:xfrm>
            <a:off x="6492240" y="3493008"/>
            <a:ext cx="640080" cy="640080"/>
          </a:xfrm>
          <a:prstGeom prst="ellipse">
            <a:avLst/>
          </a:prstGeom>
          <a:solidFill>
            <a:schemeClr val="accent2"/>
          </a:solidFill>
          <a:ln/>
        </p:spPr>
        <p:txBody>
          <a:bodyPr/>
          <a:lstStyle/>
          <a:p>
            <a:endParaRPr lang="en-US"/>
          </a:p>
        </p:txBody>
      </p:sp>
      <p:pic>
        <p:nvPicPr>
          <p:cNvPr id="21" name="Bed space availability" descr="Bed space availability"/>
          <p:cNvPicPr>
            <a:picLocks noChangeAspect="1"/>
          </p:cNvPicPr>
          <p:nvPr/>
        </p:nvPicPr>
        <p:blipFill>
          <a:blip r:embed="rId6"/>
          <a:stretch>
            <a:fillRect/>
          </a:stretch>
        </p:blipFill>
        <p:spPr>
          <a:xfrm>
            <a:off x="6652260" y="3653028"/>
            <a:ext cx="320040" cy="320040"/>
          </a:xfrm>
          <a:prstGeom prst="rect">
            <a:avLst/>
          </a:prstGeom>
        </p:spPr>
      </p:pic>
      <p:sp>
        <p:nvSpPr>
          <p:cNvPr id="22" name="Text 16"/>
          <p:cNvSpPr txBox="1"/>
          <p:nvPr/>
        </p:nvSpPr>
        <p:spPr>
          <a:xfrm>
            <a:off x="7360920" y="336499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Bed space availability</a:t>
            </a:r>
            <a:endParaRPr lang="en-US" sz="1700" dirty="0"/>
          </a:p>
        </p:txBody>
      </p:sp>
      <p:sp>
        <p:nvSpPr>
          <p:cNvPr id="23" name="Text 17"/>
          <p:cNvSpPr txBox="1"/>
          <p:nvPr/>
        </p:nvSpPr>
        <p:spPr>
          <a:xfrm>
            <a:off x="7360920" y="373075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Open, closing soon or full, with open beds and referral status for each home</a:t>
            </a:r>
            <a:endParaRPr lang="en-US" sz="1400" dirty="0"/>
          </a:p>
        </p:txBody>
      </p:sp>
      <p:sp>
        <p:nvSpPr>
          <p:cNvPr id="24" name="Outreach history"/>
          <p:cNvSpPr/>
          <p:nvPr/>
        </p:nvSpPr>
        <p:spPr>
          <a:xfrm>
            <a:off x="548640" y="4663440"/>
            <a:ext cx="5394960" cy="1234440"/>
          </a:xfrm>
          <a:prstGeom prst="roundRect">
            <a:avLst>
              <a:gd name="adj" fmla="val 8889"/>
            </a:avLst>
          </a:prstGeom>
          <a:solidFill>
            <a:schemeClr val="bg2"/>
          </a:solidFill>
          <a:ln/>
        </p:spPr>
        <p:txBody>
          <a:bodyPr/>
          <a:lstStyle/>
          <a:p>
            <a:endParaRPr lang="en-US"/>
          </a:p>
        </p:txBody>
      </p:sp>
      <p:sp>
        <p:nvSpPr>
          <p:cNvPr id="25" name="Outreach history circle"/>
          <p:cNvSpPr/>
          <p:nvPr/>
        </p:nvSpPr>
        <p:spPr>
          <a:xfrm>
            <a:off x="822960" y="4956048"/>
            <a:ext cx="640080" cy="640080"/>
          </a:xfrm>
          <a:prstGeom prst="ellipse">
            <a:avLst/>
          </a:prstGeom>
          <a:solidFill>
            <a:schemeClr val="accent1"/>
          </a:solidFill>
          <a:ln/>
        </p:spPr>
        <p:txBody>
          <a:bodyPr/>
          <a:lstStyle/>
          <a:p>
            <a:endParaRPr lang="en-US"/>
          </a:p>
        </p:txBody>
      </p:sp>
      <p:pic>
        <p:nvPicPr>
          <p:cNvPr id="26" name="Outreach history" descr="Outreach history"/>
          <p:cNvPicPr>
            <a:picLocks noChangeAspect="1"/>
          </p:cNvPicPr>
          <p:nvPr/>
        </p:nvPicPr>
        <p:blipFill>
          <a:blip r:embed="rId7"/>
          <a:stretch>
            <a:fillRect/>
          </a:stretch>
        </p:blipFill>
        <p:spPr>
          <a:xfrm>
            <a:off x="982980" y="5116068"/>
            <a:ext cx="320040" cy="320040"/>
          </a:xfrm>
          <a:prstGeom prst="rect">
            <a:avLst/>
          </a:prstGeom>
        </p:spPr>
      </p:pic>
      <p:sp>
        <p:nvSpPr>
          <p:cNvPr id="27" name="Text 20"/>
          <p:cNvSpPr txBox="1"/>
          <p:nvPr/>
        </p:nvSpPr>
        <p:spPr>
          <a:xfrm>
            <a:off x="1691640" y="482803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Outreach history</a:t>
            </a:r>
            <a:endParaRPr lang="en-US" sz="1700" dirty="0"/>
          </a:p>
        </p:txBody>
      </p:sp>
      <p:sp>
        <p:nvSpPr>
          <p:cNvPr id="28" name="Text 21"/>
          <p:cNvSpPr txBox="1"/>
          <p:nvPr/>
        </p:nvSpPr>
        <p:spPr>
          <a:xfrm>
            <a:off x="1691640" y="519379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Open any lead on the map to see every email already sent to it, and when</a:t>
            </a:r>
            <a:endParaRPr lang="en-US" sz="1400" dirty="0"/>
          </a:p>
        </p:txBody>
      </p:sp>
      <p:sp>
        <p:nvSpPr>
          <p:cNvPr id="29" name="Faster, smoother CRM"/>
          <p:cNvSpPr/>
          <p:nvPr/>
        </p:nvSpPr>
        <p:spPr>
          <a:xfrm>
            <a:off x="6217920" y="4663440"/>
            <a:ext cx="5394960" cy="1234440"/>
          </a:xfrm>
          <a:prstGeom prst="roundRect">
            <a:avLst>
              <a:gd name="adj" fmla="val 8889"/>
            </a:avLst>
          </a:prstGeom>
          <a:solidFill>
            <a:schemeClr val="bg2"/>
          </a:solidFill>
          <a:ln/>
        </p:spPr>
        <p:txBody>
          <a:bodyPr/>
          <a:lstStyle/>
          <a:p>
            <a:endParaRPr lang="en-US"/>
          </a:p>
        </p:txBody>
      </p:sp>
      <p:sp>
        <p:nvSpPr>
          <p:cNvPr id="30" name="Faster, smoother CRM circle"/>
          <p:cNvSpPr/>
          <p:nvPr/>
        </p:nvSpPr>
        <p:spPr>
          <a:xfrm>
            <a:off x="6492240" y="4956048"/>
            <a:ext cx="640080" cy="640080"/>
          </a:xfrm>
          <a:prstGeom prst="ellipse">
            <a:avLst/>
          </a:prstGeom>
          <a:solidFill>
            <a:schemeClr val="accent2"/>
          </a:solidFill>
          <a:ln/>
        </p:spPr>
        <p:txBody>
          <a:bodyPr/>
          <a:lstStyle/>
          <a:p>
            <a:endParaRPr lang="en-US"/>
          </a:p>
        </p:txBody>
      </p:sp>
      <p:pic>
        <p:nvPicPr>
          <p:cNvPr id="31" name="Faster, smoother CRM" descr="Faster, smoother CRM"/>
          <p:cNvPicPr>
            <a:picLocks noChangeAspect="1"/>
          </p:cNvPicPr>
          <p:nvPr/>
        </p:nvPicPr>
        <p:blipFill>
          <a:blip r:embed="rId8"/>
          <a:stretch>
            <a:fillRect/>
          </a:stretch>
        </p:blipFill>
        <p:spPr>
          <a:xfrm>
            <a:off x="6652260" y="5116068"/>
            <a:ext cx="320040" cy="320040"/>
          </a:xfrm>
          <a:prstGeom prst="rect">
            <a:avLst/>
          </a:prstGeom>
        </p:spPr>
      </p:pic>
      <p:sp>
        <p:nvSpPr>
          <p:cNvPr id="32" name="Text 24"/>
          <p:cNvSpPr txBox="1"/>
          <p:nvPr/>
        </p:nvSpPr>
        <p:spPr>
          <a:xfrm>
            <a:off x="7360920" y="4828032"/>
            <a:ext cx="4069080" cy="365760"/>
          </a:xfrm>
          <a:prstGeom prst="rect">
            <a:avLst/>
          </a:prstGeom>
          <a:noFill/>
          <a:ln/>
        </p:spPr>
        <p:txBody>
          <a:bodyPr wrap="square" lIns="0" tIns="0" rIns="0" bIns="0" rtlCol="0" anchor="ctr"/>
          <a:lstStyle/>
          <a:p>
            <a:pPr marL="0" indent="0">
              <a:buNone/>
            </a:pPr>
            <a:r>
              <a:rPr lang="en-US" sz="1700" b="1" dirty="0">
                <a:solidFill>
                  <a:schemeClr val="tx1"/>
                </a:solidFill>
              </a:rPr>
              <a:t>Faster, smoother CRM</a:t>
            </a:r>
            <a:endParaRPr lang="en-US" sz="1700" dirty="0"/>
          </a:p>
        </p:txBody>
      </p:sp>
      <p:sp>
        <p:nvSpPr>
          <p:cNvPr id="33" name="Text 25"/>
          <p:cNvSpPr txBox="1"/>
          <p:nvPr/>
        </p:nvSpPr>
        <p:spPr>
          <a:xfrm>
            <a:off x="7360920" y="5193792"/>
            <a:ext cx="4069080" cy="594360"/>
          </a:xfrm>
          <a:prstGeom prst="rect">
            <a:avLst/>
          </a:prstGeom>
          <a:noFill/>
          <a:ln/>
        </p:spPr>
        <p:txBody>
          <a:bodyPr wrap="square" lIns="0" tIns="0" rIns="0" bIns="0" rtlCol="0" anchor="t"/>
          <a:lstStyle/>
          <a:p>
            <a:pPr marL="0" indent="0">
              <a:buNone/>
            </a:pPr>
            <a:r>
              <a:rPr lang="en-US" sz="1400" dirty="0">
                <a:solidFill>
                  <a:schemeClr val="accent6"/>
                </a:solidFill>
              </a:rPr>
              <a:t>Lead search and sort, saved contact lookups and a branded loading screen</a:t>
            </a:r>
            <a:endParaRPr lang="en-US" sz="14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PROOF SO FAR</a:t>
            </a:r>
            <a:endParaRPr lang="en-US" sz="1200" dirty="0"/>
          </a:p>
        </p:txBody>
      </p:sp>
      <p:sp>
        <p:nvSpPr>
          <p:cNvPr id="3" name="Text 0"/>
          <p:cNvSpPr>
            <a:spLocks noGrp="1"/>
          </p:cNvSpPr>
          <p:nvPr>
            <p:ph type="title" idx="101" hasCustomPrompt="1"/>
          </p:nvPr>
        </p:nvSpPr>
        <p:spPr>
          <a:xfrm>
            <a:off x="548640" y="685800"/>
            <a:ext cx="11064240" cy="731520"/>
          </a:xfrm>
          <a:prstGeom prst="rect">
            <a:avLst/>
          </a:prstGeom>
          <a:noFill/>
          <a:ln/>
        </p:spPr>
        <p:txBody>
          <a:bodyPr wrap="square" lIns="0" tIns="0" rIns="0" bIns="0" rtlCol="0" anchor="t"/>
          <a:lstStyle/>
          <a:p>
            <a:pPr marL="0" indent="0" algn="l">
              <a:buNone/>
            </a:pPr>
            <a:r>
              <a:rPr lang="en-US" sz="3400" b="1" dirty="0">
                <a:solidFill>
                  <a:schemeClr val="accent1"/>
                </a:solidFill>
              </a:rPr>
              <a:t>Built and tested inside GHL</a:t>
            </a:r>
            <a:endParaRPr lang="en-US" sz="3400" dirty="0"/>
          </a:p>
        </p:txBody>
      </p:sp>
      <p:pic>
        <p:nvPicPr>
          <p:cNvPr id="4" name="proof screenshot 1" descr="proof screenshot 1"/>
          <p:cNvPicPr>
            <a:picLocks noChangeAspect="1"/>
          </p:cNvPicPr>
          <p:nvPr/>
        </p:nvPicPr>
        <p:blipFill>
          <a:blip r:embed="rId3"/>
          <a:stretch>
            <a:fillRect/>
          </a:stretch>
        </p:blipFill>
        <p:spPr>
          <a:xfrm>
            <a:off x="548640" y="1908930"/>
            <a:ext cx="5394960" cy="2491501"/>
          </a:xfrm>
          <a:prstGeom prst="rect">
            <a:avLst/>
          </a:prstGeom>
        </p:spPr>
      </p:pic>
      <p:sp>
        <p:nvSpPr>
          <p:cNvPr id="5" name="proof screenshot 1 frame"/>
          <p:cNvSpPr/>
          <p:nvPr/>
        </p:nvSpPr>
        <p:spPr>
          <a:xfrm>
            <a:off x="548640" y="1908930"/>
            <a:ext cx="5394960" cy="2491501"/>
          </a:xfrm>
          <a:prstGeom prst="rect">
            <a:avLst/>
          </a:prstGeom>
          <a:ln w="12700">
            <a:solidFill>
              <a:schemeClr val="accent4"/>
            </a:solidFill>
            <a:prstDash val="solid"/>
          </a:ln>
        </p:spPr>
        <p:txBody>
          <a:bodyPr/>
          <a:lstStyle/>
          <a:p>
            <a:endParaRPr lang="en-US"/>
          </a:p>
        </p:txBody>
      </p:sp>
      <p:sp>
        <p:nvSpPr>
          <p:cNvPr id="6" name="Text 3"/>
          <p:cNvSpPr txBox="1"/>
          <p:nvPr/>
        </p:nvSpPr>
        <p:spPr>
          <a:xfrm>
            <a:off x="548640" y="4663440"/>
            <a:ext cx="5394960" cy="548640"/>
          </a:xfrm>
          <a:prstGeom prst="rect">
            <a:avLst/>
          </a:prstGeom>
          <a:noFill/>
          <a:ln/>
        </p:spPr>
        <p:txBody>
          <a:bodyPr wrap="square" lIns="0" tIns="0" rIns="0" bIns="0" rtlCol="0" anchor="t"/>
          <a:lstStyle/>
          <a:p>
            <a:pPr marL="0" indent="0" algn="ctr">
              <a:buNone/>
            </a:pPr>
            <a:r>
              <a:rPr lang="en-US" sz="1300" i="1" dirty="0">
                <a:solidFill>
                  <a:schemeClr val="accent6"/>
                </a:solidFill>
              </a:rPr>
              <a:t>GHL workflow “Angels Oasis CRM Vercel + GHL”: inbound webhook → create contact → add angels-oasis tag</a:t>
            </a:r>
            <a:endParaRPr lang="en-US" sz="1300" dirty="0"/>
          </a:p>
        </p:txBody>
      </p:sp>
      <p:pic>
        <p:nvPicPr>
          <p:cNvPr id="7" name="proof screenshot 2" descr="proof screenshot 2"/>
          <p:cNvPicPr>
            <a:picLocks noChangeAspect="1"/>
          </p:cNvPicPr>
          <p:nvPr/>
        </p:nvPicPr>
        <p:blipFill>
          <a:blip r:embed="rId4"/>
          <a:stretch>
            <a:fillRect/>
          </a:stretch>
        </p:blipFill>
        <p:spPr>
          <a:xfrm>
            <a:off x="6217920" y="1758734"/>
            <a:ext cx="5394960" cy="2791892"/>
          </a:xfrm>
          <a:prstGeom prst="rect">
            <a:avLst/>
          </a:prstGeom>
        </p:spPr>
      </p:pic>
      <p:sp>
        <p:nvSpPr>
          <p:cNvPr id="8" name="proof screenshot 2 frame"/>
          <p:cNvSpPr/>
          <p:nvPr/>
        </p:nvSpPr>
        <p:spPr>
          <a:xfrm>
            <a:off x="6217920" y="1758734"/>
            <a:ext cx="5394960" cy="2791892"/>
          </a:xfrm>
          <a:prstGeom prst="rect">
            <a:avLst/>
          </a:prstGeom>
          <a:ln w="12700">
            <a:solidFill>
              <a:schemeClr val="accent4"/>
            </a:solidFill>
            <a:prstDash val="solid"/>
          </a:ln>
        </p:spPr>
        <p:txBody>
          <a:bodyPr/>
          <a:lstStyle/>
          <a:p>
            <a:endParaRPr lang="en-US"/>
          </a:p>
        </p:txBody>
      </p:sp>
      <p:sp>
        <p:nvSpPr>
          <p:cNvPr id="9" name="Text 5"/>
          <p:cNvSpPr txBox="1"/>
          <p:nvPr/>
        </p:nvSpPr>
        <p:spPr>
          <a:xfrm>
            <a:off x="6217920" y="4663440"/>
            <a:ext cx="5394960" cy="548640"/>
          </a:xfrm>
          <a:prstGeom prst="rect">
            <a:avLst/>
          </a:prstGeom>
          <a:noFill/>
          <a:ln/>
        </p:spPr>
        <p:txBody>
          <a:bodyPr wrap="square" lIns="0" tIns="0" rIns="0" bIns="0" rtlCol="0" anchor="t"/>
          <a:lstStyle/>
          <a:p>
            <a:pPr marL="0" indent="0" algn="ctr">
              <a:buNone/>
            </a:pPr>
            <a:r>
              <a:rPr lang="en-US" sz="1300" i="1" dirty="0">
                <a:solidFill>
                  <a:schemeClr val="accent6"/>
                </a:solidFill>
              </a:rPr>
              <a:t>GHL Marketing → Emails: all 8 referral emails built (drafts, Oct 15)</a:t>
            </a:r>
            <a:endParaRPr lang="en-US" sz="1300" dirty="0"/>
          </a:p>
        </p:txBody>
      </p:sp>
      <p:sp>
        <p:nvSpPr>
          <p:cNvPr id="10" name="done circle"/>
          <p:cNvSpPr/>
          <p:nvPr/>
        </p:nvSpPr>
        <p:spPr>
          <a:xfrm>
            <a:off x="548640" y="5349240"/>
            <a:ext cx="411480" cy="411480"/>
          </a:xfrm>
          <a:prstGeom prst="ellipse">
            <a:avLst/>
          </a:prstGeom>
          <a:solidFill>
            <a:schemeClr val="accent2"/>
          </a:solidFill>
          <a:ln/>
        </p:spPr>
        <p:txBody>
          <a:bodyPr/>
          <a:lstStyle/>
          <a:p>
            <a:endParaRPr lang="en-US"/>
          </a:p>
        </p:txBody>
      </p:sp>
      <p:pic>
        <p:nvPicPr>
          <p:cNvPr id="11" name="done" descr="done"/>
          <p:cNvPicPr>
            <a:picLocks noChangeAspect="1"/>
          </p:cNvPicPr>
          <p:nvPr/>
        </p:nvPicPr>
        <p:blipFill>
          <a:blip r:embed="rId5"/>
          <a:stretch>
            <a:fillRect/>
          </a:stretch>
        </p:blipFill>
        <p:spPr>
          <a:xfrm>
            <a:off x="651510" y="5452110"/>
            <a:ext cx="205740" cy="205740"/>
          </a:xfrm>
          <a:prstGeom prst="rect">
            <a:avLst/>
          </a:prstGeom>
        </p:spPr>
      </p:pic>
      <p:sp>
        <p:nvSpPr>
          <p:cNvPr id="12" name="Text 7"/>
          <p:cNvSpPr txBox="1"/>
          <p:nvPr/>
        </p:nvSpPr>
        <p:spPr>
          <a:xfrm>
            <a:off x="1097280" y="5349240"/>
            <a:ext cx="10515600" cy="411480"/>
          </a:xfrm>
          <a:prstGeom prst="rect">
            <a:avLst/>
          </a:prstGeom>
          <a:noFill/>
          <a:ln/>
        </p:spPr>
        <p:txBody>
          <a:bodyPr wrap="square" lIns="0" tIns="0" rIns="0" bIns="0" rtlCol="0" anchor="ctr"/>
          <a:lstStyle/>
          <a:p>
            <a:pPr marL="0" indent="0">
              <a:buNone/>
            </a:pPr>
            <a:r>
              <a:rPr lang="en-US" sz="1500" b="1" dirty="0">
                <a:solidFill>
                  <a:schemeClr val="accent2"/>
                </a:solidFill>
              </a:rPr>
              <a:t>Proven: the webhook received its test request on Oct 9, and all 8 emails are in GHL</a:t>
            </a:r>
            <a:endParaRPr lang="en-US" sz="1500" dirty="0"/>
          </a:p>
        </p:txBody>
      </p:sp>
      <p:sp>
        <p:nvSpPr>
          <p:cNvPr id="13" name="pending circle"/>
          <p:cNvSpPr/>
          <p:nvPr/>
        </p:nvSpPr>
        <p:spPr>
          <a:xfrm>
            <a:off x="548640" y="5852160"/>
            <a:ext cx="411480" cy="411480"/>
          </a:xfrm>
          <a:prstGeom prst="ellipse">
            <a:avLst/>
          </a:prstGeom>
          <a:solidFill>
            <a:schemeClr val="accent5"/>
          </a:solidFill>
          <a:ln/>
        </p:spPr>
        <p:txBody>
          <a:bodyPr/>
          <a:lstStyle/>
          <a:p>
            <a:endParaRPr lang="en-US"/>
          </a:p>
        </p:txBody>
      </p:sp>
      <p:pic>
        <p:nvPicPr>
          <p:cNvPr id="14" name="pending" descr="pending"/>
          <p:cNvPicPr>
            <a:picLocks noChangeAspect="1"/>
          </p:cNvPicPr>
          <p:nvPr/>
        </p:nvPicPr>
        <p:blipFill>
          <a:blip r:embed="rId6"/>
          <a:stretch>
            <a:fillRect/>
          </a:stretch>
        </p:blipFill>
        <p:spPr>
          <a:xfrm>
            <a:off x="651510" y="5955030"/>
            <a:ext cx="205740" cy="205740"/>
          </a:xfrm>
          <a:prstGeom prst="rect">
            <a:avLst/>
          </a:prstGeom>
        </p:spPr>
      </p:pic>
      <p:sp>
        <p:nvSpPr>
          <p:cNvPr id="15" name="Text 9"/>
          <p:cNvSpPr txBox="1"/>
          <p:nvPr/>
        </p:nvSpPr>
        <p:spPr>
          <a:xfrm>
            <a:off x="1097280" y="5852160"/>
            <a:ext cx="10515600" cy="411480"/>
          </a:xfrm>
          <a:prstGeom prst="rect">
            <a:avLst/>
          </a:prstGeom>
          <a:noFill/>
          <a:ln/>
        </p:spPr>
        <p:txBody>
          <a:bodyPr wrap="square" lIns="0" tIns="0" rIns="0" bIns="0" rtlCol="0" anchor="ctr"/>
          <a:lstStyle/>
          <a:p>
            <a:pPr marL="0" indent="0">
              <a:buNone/>
            </a:pPr>
            <a:r>
              <a:rPr lang="en-US" sz="1500" b="1" dirty="0">
                <a:solidFill>
                  <a:schemeClr val="accent5"/>
                </a:solidFill>
              </a:rPr>
              <a:t>Not proven yet: automated sending from the CRM, which needs the access credentials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640080"/>
            <a:ext cx="8229600" cy="365760"/>
          </a:xfrm>
          <a:prstGeom prst="rect">
            <a:avLst/>
          </a:prstGeom>
          <a:noFill/>
          <a:ln/>
        </p:spPr>
        <p:txBody>
          <a:bodyPr wrap="square" lIns="0" tIns="0" rIns="0" bIns="0" rtlCol="0" anchor="ctr"/>
          <a:lstStyle/>
          <a:p>
            <a:pPr marL="0" indent="0">
              <a:buNone/>
            </a:pPr>
            <a:r>
              <a:rPr lang="en-US" sz="1400" b="1" kern="0" spc="200" dirty="0">
                <a:solidFill>
                  <a:schemeClr val="accent3"/>
                </a:solidFill>
              </a:rPr>
              <a:t>WHAT’S NEXT</a:t>
            </a:r>
            <a:endParaRPr lang="en-US" sz="1400" dirty="0"/>
          </a:p>
        </p:txBody>
      </p:sp>
      <p:sp>
        <p:nvSpPr>
          <p:cNvPr id="3" name="Text 1"/>
          <p:cNvSpPr txBox="1"/>
          <p:nvPr/>
        </p:nvSpPr>
        <p:spPr>
          <a:xfrm>
            <a:off x="731520" y="1005840"/>
            <a:ext cx="10515600" cy="82296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Finish the email connection, then go live</a:t>
            </a:r>
            <a:endParaRPr lang="en-US" sz="3600" dirty="0"/>
          </a:p>
        </p:txBody>
      </p:sp>
      <p:sp>
        <p:nvSpPr>
          <p:cNvPr id="4" name="step 1"/>
          <p:cNvSpPr/>
          <p:nvPr/>
        </p:nvSpPr>
        <p:spPr>
          <a:xfrm>
            <a:off x="731520" y="2377440"/>
            <a:ext cx="731520" cy="731520"/>
          </a:xfrm>
          <a:prstGeom prst="ellipse">
            <a:avLst/>
          </a:prstGeom>
          <a:solidFill>
            <a:schemeClr val="accent3"/>
          </a:solidFill>
          <a:ln/>
        </p:spPr>
        <p:txBody>
          <a:bodyPr/>
          <a:lstStyle/>
          <a:p>
            <a:endParaRPr lang="en-US"/>
          </a:p>
        </p:txBody>
      </p:sp>
      <p:sp>
        <p:nvSpPr>
          <p:cNvPr id="5" name="Text 3"/>
          <p:cNvSpPr txBox="1"/>
          <p:nvPr/>
        </p:nvSpPr>
        <p:spPr>
          <a:xfrm>
            <a:off x="731520" y="2377440"/>
            <a:ext cx="731520" cy="7315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737360" y="2359152"/>
            <a:ext cx="4206240" cy="411480"/>
          </a:xfrm>
          <a:prstGeom prst="rect">
            <a:avLst/>
          </a:prstGeom>
          <a:noFill/>
          <a:ln/>
        </p:spPr>
        <p:txBody>
          <a:bodyPr wrap="square" lIns="0" tIns="0" rIns="0" bIns="0" rtlCol="0" anchor="ctr"/>
          <a:lstStyle/>
          <a:p>
            <a:pPr marL="0" indent="0">
              <a:buNone/>
            </a:pPr>
            <a:r>
              <a:rPr lang="en-US" sz="2000" b="1" dirty="0">
                <a:solidFill>
                  <a:schemeClr val="bg1"/>
                </a:solidFill>
              </a:rPr>
              <a:t>Get the credentials</a:t>
            </a:r>
            <a:endParaRPr lang="en-US" sz="2000" dirty="0"/>
          </a:p>
        </p:txBody>
      </p:sp>
      <p:sp>
        <p:nvSpPr>
          <p:cNvPr id="7" name="Text 5"/>
          <p:cNvSpPr txBox="1"/>
          <p:nvPr/>
        </p:nvSpPr>
        <p:spPr>
          <a:xfrm>
            <a:off x="1737360" y="2788920"/>
            <a:ext cx="4206240" cy="731520"/>
          </a:xfrm>
          <a:prstGeom prst="rect">
            <a:avLst/>
          </a:prstGeom>
          <a:noFill/>
          <a:ln/>
        </p:spPr>
        <p:txBody>
          <a:bodyPr wrap="square" lIns="0" tIns="0" rIns="0" bIns="0" rtlCol="0" anchor="t"/>
          <a:lstStyle/>
          <a:p>
            <a:pPr marL="0" indent="0">
              <a:buNone/>
            </a:pPr>
            <a:r>
              <a:rPr lang="en-US" sz="1500" dirty="0">
                <a:solidFill>
                  <a:schemeClr val="bg2"/>
                </a:solidFill>
              </a:rPr>
              <a:t>A GHL integration token and the Supabase service‑role key</a:t>
            </a:r>
            <a:endParaRPr lang="en-US" sz="1500" dirty="0"/>
          </a:p>
        </p:txBody>
      </p:sp>
      <p:sp>
        <p:nvSpPr>
          <p:cNvPr id="8" name="step 2"/>
          <p:cNvSpPr/>
          <p:nvPr/>
        </p:nvSpPr>
        <p:spPr>
          <a:xfrm>
            <a:off x="6217920" y="2377440"/>
            <a:ext cx="731520" cy="731520"/>
          </a:xfrm>
          <a:prstGeom prst="ellipse">
            <a:avLst/>
          </a:prstGeom>
          <a:solidFill>
            <a:schemeClr val="accent3"/>
          </a:solidFill>
          <a:ln/>
        </p:spPr>
        <p:txBody>
          <a:bodyPr/>
          <a:lstStyle/>
          <a:p>
            <a:endParaRPr lang="en-US"/>
          </a:p>
        </p:txBody>
      </p:sp>
      <p:sp>
        <p:nvSpPr>
          <p:cNvPr id="9" name="Text 7"/>
          <p:cNvSpPr txBox="1"/>
          <p:nvPr/>
        </p:nvSpPr>
        <p:spPr>
          <a:xfrm>
            <a:off x="6217920" y="2377440"/>
            <a:ext cx="731520" cy="7315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7223760" y="2359152"/>
            <a:ext cx="4206240" cy="411480"/>
          </a:xfrm>
          <a:prstGeom prst="rect">
            <a:avLst/>
          </a:prstGeom>
          <a:noFill/>
          <a:ln/>
        </p:spPr>
        <p:txBody>
          <a:bodyPr wrap="square" lIns="0" tIns="0" rIns="0" bIns="0" rtlCol="0" anchor="ctr"/>
          <a:lstStyle/>
          <a:p>
            <a:pPr marL="0" indent="0">
              <a:buNone/>
            </a:pPr>
            <a:r>
              <a:rPr lang="en-US" sz="2000" b="1" dirty="0">
                <a:solidFill>
                  <a:schemeClr val="bg1"/>
                </a:solidFill>
              </a:rPr>
              <a:t>Test the connection</a:t>
            </a:r>
            <a:endParaRPr lang="en-US" sz="2000" dirty="0"/>
          </a:p>
        </p:txBody>
      </p:sp>
      <p:sp>
        <p:nvSpPr>
          <p:cNvPr id="11" name="Text 9"/>
          <p:cNvSpPr txBox="1"/>
          <p:nvPr/>
        </p:nvSpPr>
        <p:spPr>
          <a:xfrm>
            <a:off x="7223760" y="2788920"/>
            <a:ext cx="4206240" cy="731520"/>
          </a:xfrm>
          <a:prstGeom prst="rect">
            <a:avLst/>
          </a:prstGeom>
          <a:noFill/>
          <a:ln/>
        </p:spPr>
        <p:txBody>
          <a:bodyPr wrap="square" lIns="0" tIns="0" rIns="0" bIns="0" rtlCol="0" anchor="t"/>
          <a:lstStyle/>
          <a:p>
            <a:pPr marL="0" indent="0">
              <a:buNone/>
            </a:pPr>
            <a:r>
              <a:rPr lang="en-US" sz="1500" dirty="0">
                <a:solidFill>
                  <a:schemeClr val="bg2"/>
                </a:solidFill>
              </a:rPr>
              <a:t>Send a test email from the CRM through GHL to an internal inbox</a:t>
            </a:r>
            <a:endParaRPr lang="en-US" sz="1500" dirty="0"/>
          </a:p>
        </p:txBody>
      </p:sp>
      <p:sp>
        <p:nvSpPr>
          <p:cNvPr id="12" name="step 3"/>
          <p:cNvSpPr/>
          <p:nvPr/>
        </p:nvSpPr>
        <p:spPr>
          <a:xfrm>
            <a:off x="731520" y="4114800"/>
            <a:ext cx="731520" cy="731520"/>
          </a:xfrm>
          <a:prstGeom prst="ellipse">
            <a:avLst/>
          </a:prstGeom>
          <a:solidFill>
            <a:schemeClr val="accent3"/>
          </a:solidFill>
          <a:ln/>
        </p:spPr>
        <p:txBody>
          <a:bodyPr/>
          <a:lstStyle/>
          <a:p>
            <a:endParaRPr lang="en-US"/>
          </a:p>
        </p:txBody>
      </p:sp>
      <p:sp>
        <p:nvSpPr>
          <p:cNvPr id="13" name="Text 11"/>
          <p:cNvSpPr txBox="1"/>
          <p:nvPr/>
        </p:nvSpPr>
        <p:spPr>
          <a:xfrm>
            <a:off x="731520" y="4114800"/>
            <a:ext cx="731520" cy="7315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1737360" y="4096512"/>
            <a:ext cx="4206240" cy="411480"/>
          </a:xfrm>
          <a:prstGeom prst="rect">
            <a:avLst/>
          </a:prstGeom>
          <a:noFill/>
          <a:ln/>
        </p:spPr>
        <p:txBody>
          <a:bodyPr wrap="square" lIns="0" tIns="0" rIns="0" bIns="0" rtlCol="0" anchor="ctr"/>
          <a:lstStyle/>
          <a:p>
            <a:pPr marL="0" indent="0">
              <a:buNone/>
            </a:pPr>
            <a:r>
              <a:rPr lang="en-US" sz="2000" b="1" dirty="0">
                <a:solidFill>
                  <a:schemeClr val="bg1"/>
                </a:solidFill>
              </a:rPr>
              <a:t>Go live</a:t>
            </a:r>
            <a:endParaRPr lang="en-US" sz="2000" dirty="0"/>
          </a:p>
        </p:txBody>
      </p:sp>
      <p:sp>
        <p:nvSpPr>
          <p:cNvPr id="15" name="Text 13"/>
          <p:cNvSpPr txBox="1"/>
          <p:nvPr/>
        </p:nvSpPr>
        <p:spPr>
          <a:xfrm>
            <a:off x="1737360" y="4526280"/>
            <a:ext cx="4206240" cy="731520"/>
          </a:xfrm>
          <a:prstGeom prst="rect">
            <a:avLst/>
          </a:prstGeom>
          <a:noFill/>
          <a:ln/>
        </p:spPr>
        <p:txBody>
          <a:bodyPr wrap="square" lIns="0" tIns="0" rIns="0" bIns="0" rtlCol="0" anchor="t"/>
          <a:lstStyle/>
          <a:p>
            <a:pPr marL="0" indent="0">
              <a:buNone/>
            </a:pPr>
            <a:r>
              <a:rPr lang="en-US" sz="1500" dirty="0">
                <a:solidFill>
                  <a:schemeClr val="bg2"/>
                </a:solidFill>
              </a:rPr>
              <a:t>Publish the 8 emails and start with the closest, best-fit leads</a:t>
            </a:r>
            <a:endParaRPr lang="en-US" sz="1500" dirty="0"/>
          </a:p>
        </p:txBody>
      </p:sp>
      <p:sp>
        <p:nvSpPr>
          <p:cNvPr id="16" name="step 4"/>
          <p:cNvSpPr/>
          <p:nvPr/>
        </p:nvSpPr>
        <p:spPr>
          <a:xfrm>
            <a:off x="6217920" y="4114800"/>
            <a:ext cx="731520" cy="731520"/>
          </a:xfrm>
          <a:prstGeom prst="ellipse">
            <a:avLst/>
          </a:prstGeom>
          <a:solidFill>
            <a:schemeClr val="accent3"/>
          </a:solidFill>
          <a:ln/>
        </p:spPr>
        <p:txBody>
          <a:bodyPr/>
          <a:lstStyle/>
          <a:p>
            <a:endParaRPr lang="en-US"/>
          </a:p>
        </p:txBody>
      </p:sp>
      <p:sp>
        <p:nvSpPr>
          <p:cNvPr id="17" name="Text 15"/>
          <p:cNvSpPr txBox="1"/>
          <p:nvPr/>
        </p:nvSpPr>
        <p:spPr>
          <a:xfrm>
            <a:off x="6217920" y="4114800"/>
            <a:ext cx="731520" cy="731520"/>
          </a:xfrm>
          <a:prstGeom prst="rect">
            <a:avLst/>
          </a:prstGeom>
          <a:noFill/>
          <a:ln/>
        </p:spPr>
        <p:txBody>
          <a:bodyPr wrap="square" lIns="0" tIns="0" rIns="0" bIns="0" rtlCol="0" anchor="ctr"/>
          <a:lstStyle/>
          <a:p>
            <a:pPr marL="0" indent="0" algn="ctr">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18" name="Text 16"/>
          <p:cNvSpPr txBox="1"/>
          <p:nvPr/>
        </p:nvSpPr>
        <p:spPr>
          <a:xfrm>
            <a:off x="7223760" y="4096512"/>
            <a:ext cx="4206240" cy="411480"/>
          </a:xfrm>
          <a:prstGeom prst="rect">
            <a:avLst/>
          </a:prstGeom>
          <a:noFill/>
          <a:ln/>
        </p:spPr>
        <p:txBody>
          <a:bodyPr wrap="square" lIns="0" tIns="0" rIns="0" bIns="0" rtlCol="0" anchor="ctr"/>
          <a:lstStyle/>
          <a:p>
            <a:pPr marL="0" indent="0">
              <a:buNone/>
            </a:pPr>
            <a:r>
              <a:rPr lang="en-US" sz="2000" b="1" dirty="0">
                <a:solidFill>
                  <a:schemeClr val="bg1"/>
                </a:solidFill>
              </a:rPr>
              <a:t>Report weekly</a:t>
            </a:r>
            <a:endParaRPr lang="en-US" sz="2000" dirty="0"/>
          </a:p>
        </p:txBody>
      </p:sp>
      <p:sp>
        <p:nvSpPr>
          <p:cNvPr id="19" name="Text 17"/>
          <p:cNvSpPr txBox="1"/>
          <p:nvPr/>
        </p:nvSpPr>
        <p:spPr>
          <a:xfrm>
            <a:off x="7223760" y="4526280"/>
            <a:ext cx="4206240" cy="731520"/>
          </a:xfrm>
          <a:prstGeom prst="rect">
            <a:avLst/>
          </a:prstGeom>
          <a:noFill/>
          <a:ln/>
        </p:spPr>
        <p:txBody>
          <a:bodyPr wrap="square" lIns="0" tIns="0" rIns="0" bIns="0" rtlCol="0" anchor="t"/>
          <a:lstStyle/>
          <a:p>
            <a:pPr marL="0" indent="0">
              <a:buNone/>
            </a:pPr>
            <a:r>
              <a:rPr lang="en-US" sz="1500" dirty="0">
                <a:solidFill>
                  <a:schemeClr val="bg2"/>
                </a:solidFill>
              </a:rPr>
              <a:t>Share open, reply and tour-booking numbers every week</a:t>
            </a:r>
            <a:endParaRPr lang="en-US" sz="1500" dirty="0"/>
          </a:p>
        </p:txBody>
      </p:sp>
      <p:sp>
        <p:nvSpPr>
          <p:cNvPr id="20" name="credentials request"/>
          <p:cNvSpPr/>
          <p:nvPr/>
        </p:nvSpPr>
        <p:spPr>
          <a:xfrm>
            <a:off x="731520" y="5349240"/>
            <a:ext cx="10698480" cy="640080"/>
          </a:xfrm>
          <a:prstGeom prst="roundRect">
            <a:avLst>
              <a:gd name="adj" fmla="val 17143"/>
            </a:avLst>
          </a:prstGeom>
          <a:solidFill>
            <a:schemeClr val="accent3"/>
          </a:solidFill>
          <a:ln/>
        </p:spPr>
        <p:txBody>
          <a:bodyPr/>
          <a:lstStyle/>
          <a:p>
            <a:endParaRPr lang="en-US"/>
          </a:p>
        </p:txBody>
      </p:sp>
      <p:sp>
        <p:nvSpPr>
          <p:cNvPr id="21" name="key circle"/>
          <p:cNvSpPr/>
          <p:nvPr/>
        </p:nvSpPr>
        <p:spPr>
          <a:xfrm>
            <a:off x="914400" y="5440680"/>
            <a:ext cx="457200" cy="457200"/>
          </a:xfrm>
          <a:prstGeom prst="ellipse">
            <a:avLst/>
          </a:prstGeom>
          <a:solidFill>
            <a:schemeClr val="accent1"/>
          </a:solidFill>
          <a:ln/>
        </p:spPr>
        <p:txBody>
          <a:bodyPr/>
          <a:lstStyle/>
          <a:p>
            <a:endParaRPr lang="en-US"/>
          </a:p>
        </p:txBody>
      </p:sp>
      <p:pic>
        <p:nvPicPr>
          <p:cNvPr id="22" name="key" descr="key"/>
          <p:cNvPicPr>
            <a:picLocks noChangeAspect="1"/>
          </p:cNvPicPr>
          <p:nvPr/>
        </p:nvPicPr>
        <p:blipFill>
          <a:blip r:embed="rId3"/>
          <a:stretch>
            <a:fillRect/>
          </a:stretch>
        </p:blipFill>
        <p:spPr>
          <a:xfrm>
            <a:off x="1028700" y="5554980"/>
            <a:ext cx="228600" cy="228600"/>
          </a:xfrm>
          <a:prstGeom prst="rect">
            <a:avLst/>
          </a:prstGeom>
        </p:spPr>
      </p:pic>
      <p:sp>
        <p:nvSpPr>
          <p:cNvPr id="23" name="Text 20"/>
          <p:cNvSpPr txBox="1"/>
          <p:nvPr/>
        </p:nvSpPr>
        <p:spPr>
          <a:xfrm>
            <a:off x="1554480" y="5349240"/>
            <a:ext cx="9692640" cy="640080"/>
          </a:xfrm>
          <a:prstGeom prst="rect">
            <a:avLst/>
          </a:prstGeom>
          <a:noFill/>
          <a:ln/>
        </p:spPr>
        <p:txBody>
          <a:bodyPr wrap="square" lIns="0" tIns="0" rIns="0" bIns="0" rtlCol="0" anchor="ctr"/>
          <a:lstStyle/>
          <a:p>
            <a:pPr marL="0" indent="0">
              <a:buNone/>
            </a:pPr>
            <a:r>
              <a:rPr lang="en-US" sz="1700" b="1" dirty="0">
                <a:solidFill>
                  <a:schemeClr val="accent1"/>
                </a:solidFill>
              </a:rPr>
              <a:t>My request: </a:t>
            </a:r>
            <a:r>
              <a:rPr lang="en-US" sz="1700" dirty="0">
                <a:solidFill>
                  <a:schemeClr val="accent1"/>
                </a:solidFill>
              </a:rPr>
              <a:t>I need the extra credentials for info@angelsoasisclhf.com to finish the email connection</a:t>
            </a:r>
            <a:endParaRPr lang="en-US" sz="1700" dirty="0"/>
          </a:p>
        </p:txBody>
      </p:sp>
      <p:sp>
        <p:nvSpPr>
          <p:cNvPr id="24" name="Text 21"/>
          <p:cNvSpPr txBox="1"/>
          <p:nvPr/>
        </p:nvSpPr>
        <p:spPr>
          <a:xfrm>
            <a:off x="731520" y="6217920"/>
            <a:ext cx="7315200" cy="365760"/>
          </a:xfrm>
          <a:prstGeom prst="rect">
            <a:avLst/>
          </a:prstGeom>
          <a:noFill/>
          <a:ln/>
        </p:spPr>
        <p:txBody>
          <a:bodyPr wrap="square" lIns="0" tIns="0" rIns="0" bIns="0" rtlCol="0" anchor="ctr"/>
          <a:lstStyle/>
          <a:p>
            <a:pPr marL="0" indent="0">
              <a:buNone/>
            </a:pPr>
            <a:r>
              <a:rPr lang="en-US" sz="1600" i="1" dirty="0">
                <a:solidFill>
                  <a:schemeClr val="accent3"/>
                </a:solidFill>
              </a:rPr>
              <a:t>Thank you  ·  Questions?</a:t>
            </a:r>
            <a:endParaRPr lang="en-US" sz="1600" dirty="0"/>
          </a:p>
        </p:txBody>
      </p:sp>
    </p:spTree>
  </p:cSld>
  <p:clrMapOvr>
    <a:masterClrMapping/>
  </p:clrMapOvr>
</p:sld>
</file>

<file path=ppt/theme/theme1.xml><?xml version="1.0" encoding="utf-8"?>
<a:theme xmlns:a="http://schemas.openxmlformats.org/drawingml/2006/main" name="Angels Oasis">
  <a:themeElements>
    <a:clrScheme name="Angels Oasis">
      <a:dk1>
        <a:srgbClr val="1F1A1E"/>
      </a:dk1>
      <a:lt1>
        <a:srgbClr val="FFFFFF"/>
      </a:lt1>
      <a:dk2>
        <a:srgbClr val="4A1D3D"/>
      </a:dk2>
      <a:lt2>
        <a:srgbClr val="F3ECF1"/>
      </a:lt2>
      <a:accent1>
        <a:srgbClr val="4A1D3D"/>
      </a:accent1>
      <a:accent2>
        <a:srgbClr val="3F6950"/>
      </a:accent2>
      <a:accent3>
        <a:srgbClr val="A8D5BA"/>
      </a:accent3>
      <a:accent4>
        <a:srgbClr val="8C5A7E"/>
      </a:accent4>
      <a:accent5>
        <a:srgbClr val="B7791F"/>
      </a:accent5>
      <a:accent6>
        <a:srgbClr val="6B6268"/>
      </a:accent6>
      <a:hlink>
        <a:srgbClr val="3F6950"/>
      </a:hlink>
      <a:folHlink>
        <a:srgbClr val="4A1D3D"/>
      </a:folHlink>
    </a:clrScheme>
    <a:fontScheme name="Angels Oa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1657</Words>
  <Application>Microsoft Office PowerPoint</Application>
  <PresentationFormat>Widescreen</PresentationFormat>
  <Paragraphs>185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Angels Oasis</vt:lpstr>
      <vt:lpstr>Referral Outreach System: My 3‑Week Roadmap</vt:lpstr>
      <vt:lpstr>Three weeks, three building blocks</vt:lpstr>
      <vt:lpstr>Built a live map of every referral source nearby</vt:lpstr>
      <vt:lpstr>Every lead now has a stage in the pipeline</vt:lpstr>
      <vt:lpstr>Put the CRM online and started the link to GHL</vt:lpstr>
      <vt:lpstr>Wrote 8 referral emails, planned over 27 days</vt:lpstr>
      <vt:lpstr>What works today, and what is still in research</vt:lpstr>
      <vt:lpstr>Extra features I added to the CRM</vt:lpstr>
      <vt:lpstr>Built and tested inside GHL</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Referral Outreach System: 3-Week Progress Report</dc:title>
  <dc:subject>PptxGenJS Presentation</dc:subject>
  <dc:creator>KAM Team</dc:creator>
  <cp:lastModifiedBy>Aisa</cp:lastModifiedBy>
  <cp:revision>4</cp:revision>
  <dcterms:created xsi:type="dcterms:W3CDTF">2026-10-16T16:16:53Z</dcterms:created>
  <dcterms:modified xsi:type="dcterms:W3CDTF">2026-10-16T16:45:22Z</dcterms:modified>
</cp:coreProperties>
</file>